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7"/>
  </p:notesMasterIdLst>
  <p:handoutMasterIdLst>
    <p:handoutMasterId r:id="rId48"/>
  </p:handoutMasterIdLst>
  <p:sldIdLst>
    <p:sldId id="256" r:id="rId2"/>
    <p:sldId id="309" r:id="rId3"/>
    <p:sldId id="308" r:id="rId4"/>
    <p:sldId id="265" r:id="rId5"/>
    <p:sldId id="307" r:id="rId6"/>
    <p:sldId id="301" r:id="rId7"/>
    <p:sldId id="302" r:id="rId8"/>
    <p:sldId id="303" r:id="rId9"/>
    <p:sldId id="305" r:id="rId10"/>
    <p:sldId id="306" r:id="rId11"/>
    <p:sldId id="304" r:id="rId12"/>
    <p:sldId id="264" r:id="rId13"/>
    <p:sldId id="257" r:id="rId14"/>
    <p:sldId id="266" r:id="rId15"/>
    <p:sldId id="270" r:id="rId16"/>
    <p:sldId id="271" r:id="rId17"/>
    <p:sldId id="272" r:id="rId18"/>
    <p:sldId id="273" r:id="rId19"/>
    <p:sldId id="274" r:id="rId20"/>
    <p:sldId id="277" r:id="rId21"/>
    <p:sldId id="275" r:id="rId22"/>
    <p:sldId id="278" r:id="rId23"/>
    <p:sldId id="27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296" r:id="rId41"/>
    <p:sldId id="297" r:id="rId42"/>
    <p:sldId id="300" r:id="rId43"/>
    <p:sldId id="298" r:id="rId44"/>
    <p:sldId id="299" r:id="rId45"/>
    <p:sldId id="269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42D0B"/>
    <a:srgbClr val="76280B"/>
    <a:srgbClr val="F6BF73"/>
    <a:srgbClr val="F9D4A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655" autoAdjust="0"/>
  </p:normalViewPr>
  <p:slideViewPr>
    <p:cSldViewPr snapToGrid="0">
      <p:cViewPr varScale="1">
        <p:scale>
          <a:sx n="66" d="100"/>
          <a:sy n="66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805758-D2E5-47F1-BDC8-64F96AB837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A4D7A7-60FE-4B51-8D3B-098FB2A1B3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66161-D383-45DC-9645-1D21647A8641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8030B-DA71-4B18-AA7C-F991BCB51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D65FCA-070F-4A6D-A2E0-D5EBEAABC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4D2B8-7AFA-4F86-9DF3-A6BBE4E23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482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3789D0-CA34-4934-A369-C3113E12A3EF}" type="datetimeFigureOut">
              <a:rPr lang="en-US" smtClean="0"/>
              <a:t>9/4/2025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79418-37EB-4378-AD22-89DBB000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42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3C66-6FE2-C2A1-280F-7638EF9CC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7F352-E2A3-C35D-6CD0-3A5AF9E5A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EF02-1DBB-5EA7-6911-AD7E9A41E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161F0-4D5F-ACC4-178F-D55AB9A98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27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542CC-F378-38A8-8551-8D0659619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953E66-FC5B-6686-1ACB-2A0FF519D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582A9-D422-EF1F-435E-F12146E85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D2523-4B88-76DC-8F76-70E93833BA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38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was important about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is it relevant to your course, yourself, or your society or community?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Why is this significant?</a:t>
            </a:r>
          </a:p>
          <a:p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0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5D9AB-A381-C52B-60C3-FDE88E34B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717B6-2FEF-B08C-95A4-66F391A3B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FE49F-94FB-B922-9E91-C17025F27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2811C-51D5-414F-4124-E631397D2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999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31F6-31D9-EB8A-3629-87061186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4185C-E591-4836-A666-98CF92155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E7E44-4608-5294-FE45-6EAFC7C25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6A117-5E22-67DE-296D-4F5CFD493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581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114FF-EF29-35D8-F9A7-3998CBB6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91440-162C-5949-7CAF-CFE645935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95F90-F2B8-BEC2-C05D-574949DE6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4D6D8-244A-EA67-646A-4866C24C98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17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2EA4-2B50-FCE0-680F-A716D9268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B6B2D-83D7-F4BE-54BE-E7CDB8B1E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FEE59-BD39-C699-B138-C256DB6F1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F0785-F20D-A9B8-A736-0B1BA7529A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8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2809E-8348-3844-17C6-7D8D8B62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75AC9-46F0-D53D-17F2-1D67FDF7F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88B97-54E9-964D-64A5-88B16E976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715FB-FB61-EF4F-589C-5F0006421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66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FF398-01AA-E5E7-340A-F21919846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CF813-301B-2AAE-6CD8-EBEF88D2C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FA133-8ECD-D2FF-046E-4E7327871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885F3-2541-BB17-ED58-D1E41EA01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618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D5CC-13D7-88E9-CD92-7D51D3512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8643A-C16A-A483-C6CB-AB5DD1F19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7FAAD-D3E4-A23F-63DB-81B895BCFD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BF908-CF34-E9D8-514A-7DE08584A6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6247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87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34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Description of what you learned in your own words on one side.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Include information about the topic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Details about the topic will also be helpful here.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Tell the story of your learning experience.  Just like a story there should always be a beginning, middle and an end.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On the other side, you can add a graphic that provides evidence of what you learned.</a:t>
            </a:r>
          </a:p>
          <a:p>
            <a:endParaRPr lang="en-US" dirty="0"/>
          </a:p>
          <a:p>
            <a:r>
              <a:rPr lang="en-US" dirty="0"/>
              <a:t>Feel free to use more than one slide to reflect upon your process.  It also helps to add some video of your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1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B0F2C-642C-584B-A78A-9277BA50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BF11C-D8E5-19BF-340A-152E93641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D3D26B-27D0-D2A9-7EAF-082A2D2DB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FFF47-FBE0-4851-9FA2-20AF59AE81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272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6532-B974-F4B3-3F98-02A285673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47F7A-00F4-973D-E48C-5DD7660124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D808D-7A3B-11FB-69E0-749058660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A975-699E-D3DD-0FD3-4E614F9DC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103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3440-C404-27F6-D52E-51C325CEA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27CA7-37B3-93CD-9016-7C45B5F4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77350-A009-F94C-E2D3-6F326081D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2E6C7-A0AB-12EB-0F50-2637115DA6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5186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122C-8A0A-3E62-8502-2C771F9A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3FBB1-FA7D-9C6B-3C81-97AEB6D24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E7BB9B-1B83-384D-BB5A-8CCB2CB43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2D034-344E-776A-DAB8-04356CC5E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405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2080-4E66-0604-14E7-FE922430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247DD-1485-2C7C-0349-9946B3075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2691EE-B680-0858-AAEB-E77748257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3E0FA-8801-7CB6-FF76-408051FBE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2056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E37F-0E3E-C5DE-B3F1-B5DC7D6C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3BF5-1513-1D55-9362-53223A110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28EA7-C94F-0440-4C64-0F309FAD9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F89E-6F32-5DC0-CB4F-69CE26413E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62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4C36-F231-9E77-DF98-0E333048A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9E6150-6FE4-5ADA-02AA-070CAEDD1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1C542-4ED4-729E-0FD3-489AFD422E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2979-F967-E864-3F1D-6380ABAD5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0129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3279B-F99B-76BF-D419-607E8ECA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69D9D-2235-977F-85BA-0EE628425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02825-96F0-F1E6-EE54-A6EE247AB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BED4A-019C-48A7-9BDE-01F5FB9D09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760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DC63C-56E5-F70A-CEA5-6DF3E344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F477A-507C-5D3D-5349-A5BF75992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785E26-BA15-3409-9DD8-DAD9697A9E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2E06B-7ABA-85D9-CD2A-E52D491A0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1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E75F-F25E-BBB2-80D7-D8D2EA967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D4C1B-6A23-9CA5-5E09-1E2B7F990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966C6-F551-F53D-B073-0790BC95E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D94F0-545E-69B8-DB20-AD7925A15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665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8B300-311F-DE73-C439-BCD6A03E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7AE65-31A5-CB6B-7641-A7374025A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B1806-C4B0-CE22-40AA-B3FD57E76A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615EE-ECFB-2BCD-F0B4-E2DADC665B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85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4AE87-FEED-0F55-0149-2D2BA1E69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1CC98-C3F2-1003-41AA-E3F6BD55F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68BA3-F63F-1586-539D-D35E08ACC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F5F42-30ED-A3B9-C2D9-22737CF1F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868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1AD57-79CD-5B55-A0AA-1E3A8B51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5D43A-5075-927B-6DEC-EB416A15A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19CAE-17B2-F192-C7CF-5417B17C6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E624-1E45-63E7-3EBC-8658BE7EEA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9962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9ED88-8C1C-78CB-3278-11E88683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B9BD56-AEB9-426E-691A-C6D5E348B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5EBBD-8187-32F9-C4A8-DD43A5D27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D53589-9224-3257-50D6-8ECFB1ACE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11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D9127-9200-9A91-6BD9-7EAE4A125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1171C-E11C-EBE6-3D97-33E0957BAE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6CD3D-3354-DC0A-96D7-9BF8FCBEC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7FD15-B917-65C8-7555-FD11598C8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0568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B967C-98B5-E0B8-A58A-B0359033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57B83-DAAA-81E0-C97B-198AE8688D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9D34C3-82B1-2A06-931C-E8DA9918B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78F3D-C009-FE0C-2372-B979FAB6F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0515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CB2D4-332F-6D81-FB26-B8A5778E6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D1E47-461B-FE77-39A0-DA23120AA6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416E3-E09B-9C5C-61CC-9C05CC68F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B93FB-2ED9-95D6-E6A2-4BA6D8768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0613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B76E-D56A-66EA-D175-1D52B8A4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6AEE0-99B0-22FB-AC9B-459A611A9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7EE7F-CFCB-B722-2E3B-DAAD062D8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9D10-2000-70B8-9BBA-9E0169885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972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19CF-FA29-9A14-AE14-1684E3CE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56500-6C09-51EA-4338-CA76578E6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B4AE2-9AA0-994C-67C4-234AA287A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78717-F2A7-8B0F-AE0E-7C3C5834B8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1751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1600-8DAD-3819-9562-D7DC30F5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A6301-9963-76EB-5CDF-9180B42CD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3979C-3423-9880-2F36-8136EA463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9578D-BF2A-2132-F05E-C80328D09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695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BD00-5F58-A148-6824-2D0C515A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24429-82DE-9F34-4762-010D9625D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72002-BB77-9D58-A0BF-492A68D4E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Notes to presenter: </a:t>
            </a:r>
          </a:p>
          <a:p>
            <a:r>
              <a:rPr lang="en-US" i="1" dirty="0"/>
              <a:t>What is your purpose for sharing this reflection</a:t>
            </a:r>
            <a:r>
              <a:rPr lang="en-US" i="1" baseline="0" dirty="0"/>
              <a:t>?</a:t>
            </a:r>
          </a:p>
          <a:p>
            <a:r>
              <a:rPr lang="en-US" i="1" baseline="0" dirty="0"/>
              <a:t>Is it at the end of a unit or project?  </a:t>
            </a:r>
          </a:p>
          <a:p>
            <a:r>
              <a:rPr lang="en-US" i="1" baseline="0" dirty="0"/>
              <a:t>Are you sharing this reflection, at the attainment of a learning goal you set for yourself?  </a:t>
            </a:r>
          </a:p>
          <a:p>
            <a:r>
              <a:rPr lang="en-US" i="1" baseline="0" dirty="0"/>
              <a:t>Is it at the end of a course?  </a:t>
            </a:r>
          </a:p>
          <a:p>
            <a:endParaRPr lang="en-US" baseline="0" dirty="0"/>
          </a:p>
          <a:p>
            <a:r>
              <a:rPr lang="en-US" baseline="0" dirty="0"/>
              <a:t>State your purpose for the reflection or even the purpose of the learning experience or learning goal.  Be clear and be specific in stating your purpose.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B1620-DB8E-48F4-F151-D53953E9F6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162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4F345-36AC-9579-392B-6CFDCDEE2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023DA-F13D-12AC-C82F-1055BF66F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82CE3-6B51-6C3B-DCA3-678CF40331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8E25C-383F-21FE-260F-64E14D986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833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2BD4-5B5B-75E2-35CF-2609F6E7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036A31-4425-D563-CF22-075DBB3C2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9BB00-AF96-C0FF-0B0D-970D694A0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63477-99BA-DD82-976E-7F87C1D70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5066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8CCE-2623-6CD8-CFB2-0E9575C8F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005129-E45E-AA4B-F786-4D4867D13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D97374-CEAC-7913-0EE2-0E9CDD37B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49544-83D0-3910-56A6-AFECD5A4AD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625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6F3C-179D-0A49-A7C1-7E2DA009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D15B1-411F-BB4B-A3F8-A55FB6C629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6EF17-E1A4-A747-F6E9-5EC24592A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1C7F4-73CD-6712-4632-98AF6C955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6408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0F02-E54E-655A-2CB6-D9D00B28D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68621-AB53-8992-CCBE-D80C0AAF1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57C87-3433-C2F3-152E-7D5281B07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D00A7-3935-B3A3-1329-280867D5F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744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4F7C-CE34-59F2-A485-547955BC0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2031C0-6CDB-9D71-2F08-AB2C94816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B9819-79D8-27ED-FDC6-377CD45B2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8848-9373-BBE2-A842-E90B678B0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0158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79E0F-39E6-0063-3134-D82CED405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0393F-06C8-EF8F-B834-1DB1C0985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E7270-9D5D-C12A-34C7-3E29A89C93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DC376-7B80-5B30-FF47-8A91149EE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0897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A6DF4-E8A3-A051-C67D-67693C98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E656A-259D-5081-D397-DA85FC224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D033C-4A42-6982-D9C1-06B6BB3CC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B1A09-EA74-87FA-0CCD-74BA9E929A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25967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97B2A-22B6-4403-7C84-872FE49E5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6263E-F708-E60D-0996-43E116B78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2F56E-924F-9F83-E47A-CEBD77001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Notes to presenter: 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steps will you be taking as a result of this learning experience?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Did you learn from any failed experiences?  How will you do things differently?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What advice will you give to others so they can learn from your experiences?</a:t>
            </a:r>
          </a:p>
          <a:p>
            <a:r>
              <a:rPr lang="en-US" b="0" i="1" dirty="0">
                <a:latin typeface="Segoe UI" panose="020B0502040204020203" pitchFamily="34" charset="0"/>
                <a:cs typeface="Segoe UI" panose="020B0502040204020203" pitchFamily="34" charset="0"/>
              </a:rPr>
              <a:t>How can you share what you learned with a real-world audience?  </a:t>
            </a:r>
          </a:p>
          <a:p>
            <a:endParaRPr lang="en-US" dirty="0"/>
          </a:p>
          <a:p>
            <a:r>
              <a:rPr lang="en-US" b="1" dirty="0"/>
              <a:t>Some examples of next steps might be: </a:t>
            </a:r>
          </a:p>
          <a:p>
            <a:pPr marL="228600" indent="-228600">
              <a:buAutoNum type="arabicPeriod"/>
            </a:pPr>
            <a:r>
              <a:rPr lang="en-US" dirty="0"/>
              <a:t>After</a:t>
            </a:r>
            <a:r>
              <a:rPr lang="en-US" baseline="0" dirty="0"/>
              <a:t> delivering my first persuasive presentation, I am thinking about joining the debate team.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making my first film, I’m considering entering it in our school film festival or local film festival.</a:t>
            </a:r>
          </a:p>
          <a:p>
            <a:pPr marL="228600" indent="-228600">
              <a:buAutoNum type="arabicPeriod"/>
            </a:pPr>
            <a:r>
              <a:rPr lang="en-US" baseline="0" dirty="0"/>
              <a:t>After connecting with this career expert, I’d like to do some research on that career field because it sounds interesting to me.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SmartArt allows you add images and text to help outline your process.  If a picture is worth a thousand words, then pictures and words should help you communicate this reflection on learning perfectly!  You can always click on Insert&gt;SmartArt to change this graphic or select the graphic and click on the Design contextual menu to change the colors.</a:t>
            </a:r>
          </a:p>
          <a:p>
            <a:endParaRPr lang="en-US" dirty="0"/>
          </a:p>
          <a:p>
            <a:r>
              <a:rPr lang="en-US" dirty="0"/>
              <a:t>Feel free to use more than one slide to share your next steps.  It also helps to add some video content to explain your message.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90F09-A374-BBA5-0836-12623C4DF3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D79418-37EB-4378-AD22-89DBB000B0D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63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826893-9059-400D-A708-615823828BC9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0" name="Graphic 9" descr="Single gear">
              <a:extLst>
                <a:ext uri="{FF2B5EF4-FFF2-40B4-BE49-F238E27FC236}">
                  <a16:creationId xmlns:a16="http://schemas.microsoft.com/office/drawing/2014/main" id="{4BD7AE3B-6321-488C-8378-B441F7AC62C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52566813-48BF-44A8-9FBD-C9035FDE14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C9098912-FEFB-4951-B070-7ED0F1D455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7187CCFC-946C-4708-98C2-CC97857A5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/>
        </p:nvSpPr>
        <p:spPr bwMode="ltGray">
          <a:xfrm>
            <a:off x="1704975" y="2598834"/>
            <a:ext cx="8782050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293" y="2742465"/>
            <a:ext cx="8494463" cy="137307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99" y="4394039"/>
            <a:ext cx="8493957" cy="11176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1295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422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A59AF3-34E3-4F2D-B219-533C8164A410}"/>
              </a:ext>
            </a:extLst>
          </p:cNvPr>
          <p:cNvSpPr/>
          <p:nvPr userDrawn="1"/>
        </p:nvSpPr>
        <p:spPr>
          <a:xfrm>
            <a:off x="0" y="2590078"/>
            <a:ext cx="1602997" cy="1660332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8DDA9-3997-4600-985C-44C2CABD0BA3}"/>
              </a:ext>
            </a:extLst>
          </p:cNvPr>
          <p:cNvSpPr/>
          <p:nvPr userDrawn="1"/>
        </p:nvSpPr>
        <p:spPr>
          <a:xfrm>
            <a:off x="10606797" y="2590077"/>
            <a:ext cx="1602997" cy="166033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03518" y="2750779"/>
            <a:ext cx="1171888" cy="1356442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8896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Multip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E106B9E-EBA8-4369-8705-FDBBA60DC7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60549" y="2101850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0D0165-A38B-4CE8-AE4D-186DBC04F8D4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90C052C9-F1E0-4264-8CAC-31B0B8F76D6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892FFF3D-7B2E-44EB-83BA-5453FEC489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CC5A9AF4-A787-49A3-83CF-889F9AEE0D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B5D192A5-6FE9-49BC-9104-102935BA0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F099E8F9-E092-4E4C-AB87-FB2B4EC4D0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60549" y="3044624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82CF4FC-13E5-4A63-BCF2-3AF43B5F15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0549" y="3987398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523C4DE-E0C6-4EE1-9145-DA78191746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60549" y="4930171"/>
            <a:ext cx="4433401" cy="823913"/>
          </a:xfrm>
        </p:spPr>
        <p:txBody>
          <a:bodyPr anchor="ctr" anchorCtr="0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526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E363D07-B7E9-4C17-BF5B-ADACCCAD7C6C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BF7F7D52-1EF2-49FA-AE87-7BE7232893F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ACC0D449-4064-40FD-A10D-BE7844EB87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1FE621D1-1FD9-49E2-99C8-0CB37634CD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0EA6856C-35D0-465E-B0CB-B889D4DA0B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A493FB47-F1DA-40B8-A1F4-115CD1F708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330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CBF5BF6C-5F7D-464E-B42E-D194CF355A7E}"/>
              </a:ext>
            </a:extLst>
          </p:cNvPr>
          <p:cNvGrpSpPr/>
          <p:nvPr userDrawn="1"/>
        </p:nvGrpSpPr>
        <p:grpSpPr bwMode="ltGray">
          <a:xfrm rot="5400000">
            <a:off x="7096454" y="1615369"/>
            <a:ext cx="4959501" cy="5525761"/>
            <a:chOff x="7232499" y="-159283"/>
            <a:chExt cx="4959501" cy="5525761"/>
          </a:xfrm>
          <a:solidFill>
            <a:srgbClr val="76280B">
              <a:alpha val="60000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8F045C13-A0AE-4F21-8EE7-47DCE4B458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D5197B13-7446-4E28-A62C-4543D7BD6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4B5B975A-536D-4192-B3DE-875F5E141A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486478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5BB09BB4-511A-4714-92A7-D9CA09D1FD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2720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37645" y="2336873"/>
            <a:ext cx="4698358" cy="35993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51448" y="2336873"/>
            <a:ext cx="4700058" cy="3599316"/>
          </a:xfrm>
        </p:spPr>
        <p:txBody>
          <a:bodyPr anchor="ctr" anchorCtr="0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0697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90C5C8C-B074-498F-921D-CC0B5DF8FBD3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C270183A-92E0-49A5-B6BC-F1934676372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6E086889-5472-4B65-A156-D0B8F369C3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4BCBF44F-62C7-4F40-99DF-85C459F43E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ABF64D53-5ED0-4A1D-A7EA-94CDB0D37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2565C769-10BF-4E7B-B099-B4FD458436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0" y="2336873"/>
            <a:ext cx="4698358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4123" y="2336873"/>
            <a:ext cx="4700059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713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1281ABC-1821-4B63-88B5-74D2B13A11AF}"/>
              </a:ext>
            </a:extLst>
          </p:cNvPr>
          <p:cNvGrpSpPr/>
          <p:nvPr userDrawn="1"/>
        </p:nvGrpSpPr>
        <p:grpSpPr>
          <a:xfrm rot="5400000">
            <a:off x="175132" y="1273331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0BD16937-7ADD-43BC-AFAD-ABA8E1E4D0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A93E95CB-8B7F-4CE0-BD90-8078D78E5B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308EA72E-9FD8-4137-AF70-2F45B4623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7E5F03E5-E60E-40E5-996F-CE212FF642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7EB0518D-8C62-493A-B053-F7B2F41290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646" y="753228"/>
            <a:ext cx="9613861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0830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3764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56705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D7CD5CF-F924-43C6-9C02-06FBC84A6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644" y="2161725"/>
            <a:ext cx="9613861" cy="370264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318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9934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CA97C9F-27FA-4BCE-84C2-EA9C0347E974}"/>
              </a:ext>
            </a:extLst>
          </p:cNvPr>
          <p:cNvGrpSpPr/>
          <p:nvPr userDrawn="1"/>
        </p:nvGrpSpPr>
        <p:grpSpPr>
          <a:xfrm rot="5400000">
            <a:off x="227324" y="1282732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6EEB6AF8-1385-4805-8E97-CDE431030B0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2" name="Graphic 11" descr="Single gear">
              <a:extLst>
                <a:ext uri="{FF2B5EF4-FFF2-40B4-BE49-F238E27FC236}">
                  <a16:creationId xmlns:a16="http://schemas.microsoft.com/office/drawing/2014/main" id="{1F08FE59-AC1A-4BF7-B9D5-7672C8C7D3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F44470E0-8B01-46E6-90F1-4B52CB3EF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2FB2E216-0387-4DF4-A432-E877C96A7B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53685AA4-853C-46A8-8ADB-FA80FE59BF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683A405-3ADE-448E-893F-D3D2E11CCA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97819" y="2290763"/>
            <a:ext cx="8396362" cy="31003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2027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C2D2AED-B2EF-46D8-BC7C-81AE25C80786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8" name="Graphic 7" descr="Single gear">
              <a:extLst>
                <a:ext uri="{FF2B5EF4-FFF2-40B4-BE49-F238E27FC236}">
                  <a16:creationId xmlns:a16="http://schemas.microsoft.com/office/drawing/2014/main" id="{2F9289FC-9317-4EC5-8064-00D34185019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9" name="Graphic 8" descr="Single gear">
              <a:extLst>
                <a:ext uri="{FF2B5EF4-FFF2-40B4-BE49-F238E27FC236}">
                  <a16:creationId xmlns:a16="http://schemas.microsoft.com/office/drawing/2014/main" id="{09784D29-4AB9-4581-A176-2BC2AD58F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10" name="Graphic 9" descr="Single gear">
              <a:extLst>
                <a:ext uri="{FF2B5EF4-FFF2-40B4-BE49-F238E27FC236}">
                  <a16:creationId xmlns:a16="http://schemas.microsoft.com/office/drawing/2014/main" id="{25EF2775-3EFB-4A64-8FAF-4D8B56AE07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11" name="Graphic 10" descr="Single gear">
              <a:extLst>
                <a:ext uri="{FF2B5EF4-FFF2-40B4-BE49-F238E27FC236}">
                  <a16:creationId xmlns:a16="http://schemas.microsoft.com/office/drawing/2014/main" id="{A34C11DA-4074-454D-800C-0FC5FBF1CD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540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8446" y="2336873"/>
            <a:ext cx="5608336" cy="35993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20702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F6BBB30-80DB-4A1B-9DD3-A090C4EF2F33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8" name="Graphic 17" descr="Single gear">
              <a:extLst>
                <a:ext uri="{FF2B5EF4-FFF2-40B4-BE49-F238E27FC236}">
                  <a16:creationId xmlns:a16="http://schemas.microsoft.com/office/drawing/2014/main" id="{4FC3313D-A401-4847-ABED-CDF1803D067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62BA598A-71EC-4BD4-8924-8F16E990A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2086399E-589B-48EE-B396-961A783106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F2A039E4-F69C-4905-B047-6891B77F8C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1970240"/>
            <a:ext cx="10437812" cy="32116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-3554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9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2922" y="2336872"/>
            <a:ext cx="2620817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03581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32921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0074" y="753227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E59F855-D2A7-4662-804E-17B59CD1A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13022" y="2327474"/>
            <a:ext cx="6833757" cy="36087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5739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1090482"/>
          </a:xfrm>
        </p:spPr>
        <p:txBody>
          <a:bodyPr anchor="ctr" anchorCtr="0">
            <a:normAutofit/>
          </a:bodyPr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3" name="SmartArt Placeholder 12">
            <a:extLst>
              <a:ext uri="{FF2B5EF4-FFF2-40B4-BE49-F238E27FC236}">
                <a16:creationId xmlns:a16="http://schemas.microsoft.com/office/drawing/2014/main" id="{DBD7FBFD-679C-4A5B-A176-220004B60453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80321" y="386862"/>
            <a:ext cx="9614617" cy="3867638"/>
          </a:xfrm>
        </p:spPr>
        <p:txBody>
          <a:bodyPr/>
          <a:lstStyle/>
          <a:p>
            <a:r>
              <a:rPr lang="en-US" noProof="0"/>
              <a:t>Click icon to add SmartArt graphic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5996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2B243BA-55F2-42F1-B294-0EB708FCD888}"/>
              </a:ext>
            </a:extLst>
          </p:cNvPr>
          <p:cNvGrpSpPr/>
          <p:nvPr userDrawn="1"/>
        </p:nvGrpSpPr>
        <p:grpSpPr>
          <a:xfrm rot="10800000">
            <a:off x="108452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46408269-63CF-4017-AC0D-C35B044D307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7A3695B4-ADE3-45A9-8119-67D5F83A8C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6B8F0030-0551-4558-8533-64D2E4838D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59607E3E-29E0-44E4-899A-0955FA4D36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AD4251FC-462A-4B83-9F84-2358E52E31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14006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7FCAB52-C8F0-4659-9B95-C792632631CE}"/>
              </a:ext>
            </a:extLst>
          </p:cNvPr>
          <p:cNvGrpSpPr/>
          <p:nvPr userDrawn="1"/>
        </p:nvGrpSpPr>
        <p:grpSpPr bwMode="ltGray">
          <a:xfrm rot="5400000">
            <a:off x="7251814" y="1766245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5E98770F-9E46-4F69-9A76-F671813AF5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F08BF8CF-C3C2-4767-B88B-DE07E6A628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E63AFEB7-4AAE-448E-8B0B-C2F2287771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:a16="http://schemas.microsoft.com/office/drawing/2014/main" id="{E279C731-1AAF-453A-94B0-6CC2920395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3132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B2BD5A-C0EC-4AC1-BBF1-851D8321B964}"/>
              </a:ext>
            </a:extLst>
          </p:cNvPr>
          <p:cNvGrpSpPr/>
          <p:nvPr userDrawn="1"/>
        </p:nvGrpSpPr>
        <p:grpSpPr>
          <a:xfrm rot="5400000">
            <a:off x="188826" y="1282475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3" name="Graphic 12" descr="Single gear">
              <a:extLst>
                <a:ext uri="{FF2B5EF4-FFF2-40B4-BE49-F238E27FC236}">
                  <a16:creationId xmlns:a16="http://schemas.microsoft.com/office/drawing/2014/main" id="{538A56DB-6938-460F-9BB3-A0A34C234B3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14" name="Graphic 13" descr="Single gear">
              <a:extLst>
                <a:ext uri="{FF2B5EF4-FFF2-40B4-BE49-F238E27FC236}">
                  <a16:creationId xmlns:a16="http://schemas.microsoft.com/office/drawing/2014/main" id="{E2A1D679-9D00-4DC7-82EC-B6C33270E7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15" name="Graphic 14" descr="Single gear">
              <a:extLst>
                <a:ext uri="{FF2B5EF4-FFF2-40B4-BE49-F238E27FC236}">
                  <a16:creationId xmlns:a16="http://schemas.microsoft.com/office/drawing/2014/main" id="{8DFB6E86-77FA-4731-B7FA-5A63254A3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16" name="Graphic 15" descr="Single gear">
              <a:extLst>
                <a:ext uri="{FF2B5EF4-FFF2-40B4-BE49-F238E27FC236}">
                  <a16:creationId xmlns:a16="http://schemas.microsoft.com/office/drawing/2014/main" id="{982D40F0-DDB8-45E0-B9D1-5964842C73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17" name="Graphic 16" descr="Single gear">
              <a:extLst>
                <a:ext uri="{FF2B5EF4-FFF2-40B4-BE49-F238E27FC236}">
                  <a16:creationId xmlns:a16="http://schemas.microsoft.com/office/drawing/2014/main" id="{D744A42C-4948-489C-8EB2-12C65C47E9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189" y="5928628"/>
            <a:ext cx="10437812" cy="3211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754188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-4931" y="4556102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332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77333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047994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77334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8697" y="4698039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8936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FC60FB4-27C2-4896-9B64-2DFE33815CE2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24009"/>
            <a:chOff x="7232499" y="-159283"/>
            <a:chExt cx="4959501" cy="5224009"/>
          </a:xfrm>
          <a:solidFill>
            <a:srgbClr val="76280B">
              <a:alpha val="60000"/>
            </a:srgbClr>
          </a:solidFill>
        </p:grpSpPr>
        <p:pic>
          <p:nvPicPr>
            <p:cNvPr id="24" name="Graphic 23" descr="Single gear">
              <a:extLst>
                <a:ext uri="{FF2B5EF4-FFF2-40B4-BE49-F238E27FC236}">
                  <a16:creationId xmlns:a16="http://schemas.microsoft.com/office/drawing/2014/main" id="{EE89D477-BED5-4149-965A-0C122D97A01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25" name="Graphic 24" descr="Single gear">
              <a:extLst>
                <a:ext uri="{FF2B5EF4-FFF2-40B4-BE49-F238E27FC236}">
                  <a16:creationId xmlns:a16="http://schemas.microsoft.com/office/drawing/2014/main" id="{5CCE09A4-D09F-43A2-8459-2E9D3E9602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26" name="Graphic 25" descr="Single gear">
              <a:extLst>
                <a:ext uri="{FF2B5EF4-FFF2-40B4-BE49-F238E27FC236}">
                  <a16:creationId xmlns:a16="http://schemas.microsoft.com/office/drawing/2014/main" id="{9A46A1B3-2A0B-4FFE-AE15-A11187E434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184726"/>
              <a:ext cx="2880000" cy="2880000"/>
            </a:xfrm>
            <a:prstGeom prst="rect">
              <a:avLst/>
            </a:prstGeom>
          </p:spPr>
        </p:pic>
        <p:pic>
          <p:nvPicPr>
            <p:cNvPr id="27" name="Graphic 26" descr="Single gear">
              <a:extLst>
                <a:ext uri="{FF2B5EF4-FFF2-40B4-BE49-F238E27FC236}">
                  <a16:creationId xmlns:a16="http://schemas.microsoft.com/office/drawing/2014/main" id="{D4F4A02A-94BC-4984-A372-3B77FC854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2837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1F89FDF-9788-47AD-B230-0314E7C8D087}"/>
              </a:ext>
            </a:extLst>
          </p:cNvPr>
          <p:cNvGrpSpPr/>
          <p:nvPr userDrawn="1"/>
        </p:nvGrpSpPr>
        <p:grpSpPr>
          <a:xfrm rot="10800000">
            <a:off x="99308" y="75467"/>
            <a:ext cx="5378800" cy="5588856"/>
            <a:chOff x="-424090" y="303112"/>
            <a:chExt cx="5378800" cy="5588856"/>
          </a:xfrm>
          <a:solidFill>
            <a:srgbClr val="F6BF73">
              <a:alpha val="30196"/>
            </a:srgbClr>
          </a:solidFill>
        </p:grpSpPr>
        <p:pic>
          <p:nvPicPr>
            <p:cNvPr id="19" name="Graphic 18" descr="Single gear">
              <a:extLst>
                <a:ext uri="{FF2B5EF4-FFF2-40B4-BE49-F238E27FC236}">
                  <a16:creationId xmlns:a16="http://schemas.microsoft.com/office/drawing/2014/main" id="{9CD6B783-A97E-437E-B4E2-F7D761F0A2E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13195" t="12276" r="8371" b="1368"/>
            <a:stretch/>
          </p:blipFill>
          <p:spPr>
            <a:xfrm rot="5400000">
              <a:off x="1442081" y="2451153"/>
              <a:ext cx="3275424" cy="3606205"/>
            </a:xfrm>
            <a:prstGeom prst="rect">
              <a:avLst/>
            </a:prstGeom>
          </p:spPr>
        </p:pic>
        <p:pic>
          <p:nvPicPr>
            <p:cNvPr id="20" name="Graphic 19" descr="Single gear">
              <a:extLst>
                <a:ext uri="{FF2B5EF4-FFF2-40B4-BE49-F238E27FC236}">
                  <a16:creationId xmlns:a16="http://schemas.microsoft.com/office/drawing/2014/main" id="{4699BB72-0480-4165-8D15-316CEED8CE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1092764" y="303112"/>
              <a:ext cx="2880000" cy="2880000"/>
            </a:xfrm>
            <a:prstGeom prst="rect">
              <a:avLst/>
            </a:prstGeom>
          </p:spPr>
        </p:pic>
        <p:pic>
          <p:nvPicPr>
            <p:cNvPr id="21" name="Graphic 20" descr="Single gear">
              <a:extLst>
                <a:ext uri="{FF2B5EF4-FFF2-40B4-BE49-F238E27FC236}">
                  <a16:creationId xmlns:a16="http://schemas.microsoft.com/office/drawing/2014/main" id="{685C07D9-1911-4085-8555-C992A61B10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24090" y="1817280"/>
              <a:ext cx="2880000" cy="2880000"/>
            </a:xfrm>
            <a:prstGeom prst="rect">
              <a:avLst/>
            </a:prstGeom>
          </p:spPr>
        </p:pic>
        <p:pic>
          <p:nvPicPr>
            <p:cNvPr id="22" name="Graphic 21" descr="Single gear">
              <a:extLst>
                <a:ext uri="{FF2B5EF4-FFF2-40B4-BE49-F238E27FC236}">
                  <a16:creationId xmlns:a16="http://schemas.microsoft.com/office/drawing/2014/main" id="{D621B3C3-2371-4ED0-BC1D-87AABF852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625457" y="4024986"/>
              <a:ext cx="1620000" cy="1620000"/>
            </a:xfrm>
            <a:prstGeom prst="rect">
              <a:avLst/>
            </a:prstGeom>
          </p:spPr>
        </p:pic>
        <p:pic>
          <p:nvPicPr>
            <p:cNvPr id="23" name="Graphic 22" descr="Single gear">
              <a:extLst>
                <a:ext uri="{FF2B5EF4-FFF2-40B4-BE49-F238E27FC236}">
                  <a16:creationId xmlns:a16="http://schemas.microsoft.com/office/drawing/2014/main" id="{D7D15287-50FE-4441-BA06-D454D73F7E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3226710" y="1355170"/>
              <a:ext cx="1728000" cy="1728000"/>
            </a:xfrm>
            <a:prstGeom prst="rect">
              <a:avLst/>
            </a:prstGeom>
          </p:spPr>
        </p:pic>
      </p:grpSp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6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75260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3077" y="609600"/>
            <a:ext cx="1602997" cy="1368198"/>
          </a:xfrm>
          <a:prstGeom prst="rect">
            <a:avLst/>
          </a:prstGeom>
          <a:solidFill>
            <a:srgbClr val="942D0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989256" y="5936187"/>
            <a:ext cx="2743200" cy="365125"/>
          </a:xfrm>
        </p:spPr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18596" y="5936188"/>
            <a:ext cx="6870660" cy="3651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40493" y="748304"/>
            <a:ext cx="1154151" cy="1090789"/>
          </a:xfrm>
        </p:spPr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664D24B-EA78-4E18-9226-569365267E5E}"/>
              </a:ext>
            </a:extLst>
          </p:cNvPr>
          <p:cNvCxnSpPr/>
          <p:nvPr userDrawn="1"/>
        </p:nvCxnSpPr>
        <p:spPr>
          <a:xfrm>
            <a:off x="85711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itle 1">
            <a:extLst>
              <a:ext uri="{FF2B5EF4-FFF2-40B4-BE49-F238E27FC236}">
                <a16:creationId xmlns:a16="http://schemas.microsoft.com/office/drawing/2014/main" id="{5BE17E03-04A7-46ED-8623-88DFFD7E30B0}"/>
              </a:ext>
            </a:extLst>
          </p:cNvPr>
          <p:cNvSpPr txBox="1">
            <a:spLocks/>
          </p:cNvSpPr>
          <p:nvPr userDrawn="1"/>
        </p:nvSpPr>
        <p:spPr>
          <a:xfrm>
            <a:off x="2106131" y="790252"/>
            <a:ext cx="3060802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400" noProof="0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3840076-AFCB-4C84-8E23-85DAD3CBEF3E}"/>
              </a:ext>
            </a:extLst>
          </p:cNvPr>
          <p:cNvCxnSpPr/>
          <p:nvPr userDrawn="1"/>
        </p:nvCxnSpPr>
        <p:spPr>
          <a:xfrm>
            <a:off x="5294539" y="969699"/>
            <a:ext cx="0" cy="648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itle 50">
            <a:extLst>
              <a:ext uri="{FF2B5EF4-FFF2-40B4-BE49-F238E27FC236}">
                <a16:creationId xmlns:a16="http://schemas.microsoft.com/office/drawing/2014/main" id="{BBA20603-8433-4B38-976F-F18CF78D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132" y="735087"/>
            <a:ext cx="3060802" cy="1080938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F340F6C-3335-49B0-AE89-7103CA6A7F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4611" y="735013"/>
            <a:ext cx="3060700" cy="1081087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>
              <a:defRPr sz="3600">
                <a:latin typeface="+mj-lt"/>
              </a:defRPr>
            </a:lvl2pPr>
            <a:lvl3pPr>
              <a:defRPr sz="3600">
                <a:latin typeface="+mj-lt"/>
              </a:defRPr>
            </a:lvl3pPr>
            <a:lvl4pPr>
              <a:defRPr sz="3600">
                <a:latin typeface="+mj-lt"/>
              </a:defRPr>
            </a:lvl4pPr>
            <a:lvl5pPr>
              <a:defRPr sz="3600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1F0AD31D-2FFB-40A9-96C2-F4EE3869BC5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62988" y="746125"/>
            <a:ext cx="3070225" cy="105886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3600">
                <a:latin typeface="+mj-lt"/>
              </a:defRPr>
            </a:lvl1pPr>
            <a:lvl2pPr algn="ctr">
              <a:defRPr sz="3600">
                <a:latin typeface="+mj-lt"/>
              </a:defRPr>
            </a:lvl2pPr>
            <a:lvl3pPr algn="ctr">
              <a:defRPr sz="3600">
                <a:latin typeface="+mj-lt"/>
              </a:defRPr>
            </a:lvl3pPr>
            <a:lvl4pPr algn="ctr">
              <a:defRPr sz="3600">
                <a:latin typeface="+mj-lt"/>
              </a:defRPr>
            </a:lvl4pPr>
            <a:lvl5pPr algn="ctr">
              <a:defRPr sz="3600">
                <a:latin typeface="+mj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52B689E9-5B4C-4CC0-AAA4-847EB66C3302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2106131" y="2116138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" name="Content Placeholder 56">
            <a:extLst>
              <a:ext uri="{FF2B5EF4-FFF2-40B4-BE49-F238E27FC236}">
                <a16:creationId xmlns:a16="http://schemas.microsoft.com/office/drawing/2014/main" id="{1D5202CC-08D0-4157-9CB3-AA1EF4A2C85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384611" y="2103211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9" name="Content Placeholder 56">
            <a:extLst>
              <a:ext uri="{FF2B5EF4-FFF2-40B4-BE49-F238E27FC236}">
                <a16:creationId xmlns:a16="http://schemas.microsoft.com/office/drawing/2014/main" id="{7BE8E782-50B7-4C4E-BEA5-DDA27E0F681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659892" y="2097613"/>
            <a:ext cx="3060802" cy="371316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53014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bg bwMode="blackWhite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C074DF2-6D4F-4B58-A82E-6322DB69A6CC}"/>
              </a:ext>
            </a:extLst>
          </p:cNvPr>
          <p:cNvGrpSpPr/>
          <p:nvPr userDrawn="1"/>
        </p:nvGrpSpPr>
        <p:grpSpPr bwMode="ltGray">
          <a:xfrm>
            <a:off x="7232499" y="-159283"/>
            <a:ext cx="4959501" cy="5242297"/>
            <a:chOff x="7232499" y="-159283"/>
            <a:chExt cx="4959501" cy="5242297"/>
          </a:xfrm>
          <a:solidFill>
            <a:srgbClr val="76280B">
              <a:alpha val="60000"/>
            </a:srgbClr>
          </a:solidFill>
        </p:grpSpPr>
        <p:pic>
          <p:nvPicPr>
            <p:cNvPr id="29" name="Graphic 28" descr="Single gear">
              <a:extLst>
                <a:ext uri="{FF2B5EF4-FFF2-40B4-BE49-F238E27FC236}">
                  <a16:creationId xmlns:a16="http://schemas.microsoft.com/office/drawing/2014/main" id="{B9A8CB2C-0A50-43EC-A2C7-F536FF84DE4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18078" r="23442"/>
            <a:stretch/>
          </p:blipFill>
          <p:spPr bwMode="ltGray">
            <a:xfrm>
              <a:off x="8994950" y="0"/>
              <a:ext cx="3197050" cy="3421066"/>
            </a:xfrm>
            <a:prstGeom prst="rect">
              <a:avLst/>
            </a:prstGeom>
          </p:spPr>
        </p:pic>
        <p:pic>
          <p:nvPicPr>
            <p:cNvPr id="31" name="Graphic 30" descr="Single gear">
              <a:extLst>
                <a:ext uri="{FF2B5EF4-FFF2-40B4-BE49-F238E27FC236}">
                  <a16:creationId xmlns:a16="http://schemas.microsoft.com/office/drawing/2014/main" id="{71F3D36D-2C1A-4D06-A27F-6A64AA1188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7232499" y="667872"/>
              <a:ext cx="2880000" cy="2880000"/>
            </a:xfrm>
            <a:prstGeom prst="rect">
              <a:avLst/>
            </a:prstGeom>
          </p:spPr>
        </p:pic>
        <p:pic>
          <p:nvPicPr>
            <p:cNvPr id="32" name="Graphic 31" descr="Single gear">
              <a:extLst>
                <a:ext uri="{FF2B5EF4-FFF2-40B4-BE49-F238E27FC236}">
                  <a16:creationId xmlns:a16="http://schemas.microsoft.com/office/drawing/2014/main" id="{61F0F601-D5AC-45C0-92B6-2376085B0D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746667" y="2203014"/>
              <a:ext cx="2880000" cy="2880000"/>
            </a:xfrm>
            <a:prstGeom prst="rect">
              <a:avLst/>
            </a:prstGeom>
          </p:spPr>
        </p:pic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DE792A6A-B423-4979-BD59-4CD4A7406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 bwMode="ltGray">
            <a:xfrm>
              <a:off x="8501643" y="-159283"/>
              <a:ext cx="1620000" cy="1620000"/>
            </a:xfrm>
            <a:prstGeom prst="rect">
              <a:avLst/>
            </a:prstGeom>
          </p:spPr>
        </p:pic>
      </p:grpSp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556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1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D6166-2B42-4F11-BAA6-8ABAE1BE810C}" type="datetimeFigureOut">
              <a:rPr lang="en-US" noProof="0" smtClean="0"/>
              <a:t>9/4/2025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FA76C-C565-46B6-8652-D75785E2521F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26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9" r:id="rId5"/>
    <p:sldLayoutId id="2147483665" r:id="rId6"/>
    <p:sldLayoutId id="2147483680" r:id="rId7"/>
    <p:sldLayoutId id="2147483666" r:id="rId8"/>
    <p:sldLayoutId id="2147483682" r:id="rId9"/>
    <p:sldLayoutId id="2147483667" r:id="rId10"/>
    <p:sldLayoutId id="2147483668" r:id="rId11"/>
    <p:sldLayoutId id="2147483681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8" r:id="rId18"/>
    <p:sldLayoutId id="2147483675" r:id="rId19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1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11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1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11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1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1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1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1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11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11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BBFB-4314-436C-A688-96F483D69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173D3-8B7E-4F91-B862-AC30CB0D2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Sajjad Ranjbar</a:t>
            </a:r>
            <a:endParaRPr lang="fa-IR" sz="2800" dirty="0"/>
          </a:p>
          <a:p>
            <a:r>
              <a:rPr lang="en-US" sz="1800" dirty="0"/>
              <a:t>ML, winter semester 1403-1404</a:t>
            </a:r>
          </a:p>
        </p:txBody>
      </p:sp>
      <p:pic>
        <p:nvPicPr>
          <p:cNvPr id="9" name="Graphic 8" descr="Book icon">
            <a:extLst>
              <a:ext uri="{FF2B5EF4-FFF2-40B4-BE49-F238E27FC236}">
                <a16:creationId xmlns:a16="http://schemas.microsoft.com/office/drawing/2014/main" id="{E26792AF-5D39-4A12-8EDD-CC09A60BDA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993" y="2961000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30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7C0B-8D99-9F29-9318-160B499E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F9D1-5EFE-7CA6-9866-049C3AD9A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B45CBFC5-1CC2-5CD6-C7DA-21F298075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7224E7-44B3-4E18-64CB-C0555B792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21" y="2351314"/>
            <a:ext cx="3647168" cy="3647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5834F8-27DF-A156-83B1-1686522FDB9D}"/>
              </a:ext>
            </a:extLst>
          </p:cNvPr>
          <p:cNvSpPr txBox="1"/>
          <p:nvPr/>
        </p:nvSpPr>
        <p:spPr>
          <a:xfrm>
            <a:off x="4745935" y="2782669"/>
            <a:ext cx="61685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https://github.com/phantomf4321/A-fun-game-with-a-huge-dataset-of-movies</a:t>
            </a:r>
          </a:p>
        </p:txBody>
      </p:sp>
    </p:spTree>
    <p:extLst>
      <p:ext uri="{BB962C8B-B14F-4D97-AF65-F5344CB8AC3E}">
        <p14:creationId xmlns:p14="http://schemas.microsoft.com/office/powerpoint/2010/main" val="360911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C656-0F94-3E0A-E816-035B141F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D7AC-58FC-2455-C22A-32D75300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318046A7-FB1D-0E2A-455C-507CE5BB6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7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87">
            <a:extLst>
              <a:ext uri="{FF2B5EF4-FFF2-40B4-BE49-F238E27FC236}">
                <a16:creationId xmlns:a16="http://schemas.microsoft.com/office/drawing/2014/main" id="{41B70991-B117-418C-8432-39BA5775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Cleaning</a:t>
            </a:r>
          </a:p>
        </p:txBody>
      </p:sp>
      <p:pic>
        <p:nvPicPr>
          <p:cNvPr id="3" name="Graphic 2" descr="Clipboard icon">
            <a:extLst>
              <a:ext uri="{FF2B5EF4-FFF2-40B4-BE49-F238E27FC236}">
                <a16:creationId xmlns:a16="http://schemas.microsoft.com/office/drawing/2014/main" id="{6919C957-53BE-4D79-9BA1-A263BA61F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269" y="797815"/>
            <a:ext cx="952500" cy="952500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202BD88-8A83-49DA-A828-7C40491D29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 rtl="0"/>
            <a:r>
              <a:rPr lang="en-US" dirty="0"/>
              <a:t>Convert data frames to numeric</a:t>
            </a:r>
          </a:p>
          <a:p>
            <a:pPr algn="l" rtl="0"/>
            <a:r>
              <a:rPr lang="en-US" dirty="0"/>
              <a:t>Drop Null rows</a:t>
            </a:r>
          </a:p>
          <a:p>
            <a:pPr algn="l" rtl="0"/>
            <a:r>
              <a:rPr lang="en-US" altLang="fa-IR" dirty="0">
                <a:latin typeface="Trebuchet MS (Body)"/>
              </a:rPr>
              <a:t>Join </a:t>
            </a:r>
            <a:r>
              <a:rPr lang="fa-IR" altLang="fa-IR" dirty="0">
                <a:latin typeface="Trebuchet MS (Body)"/>
              </a:rPr>
              <a:t>ratings → links → metadata</a:t>
            </a:r>
            <a:endParaRPr lang="fa-IR" altLang="fa-IR" sz="6600" dirty="0">
              <a:latin typeface="Trebuchet MS (Body)"/>
            </a:endParaRPr>
          </a:p>
          <a:p>
            <a:pPr algn="l" rtl="0"/>
            <a:endParaRPr lang="en-US" dirty="0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41FDF737-A7CF-43BF-B9FC-22E9635B785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1" dirty="0"/>
              <a:t>Save plots</a:t>
            </a:r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426A8A65-AFFE-4A62-858E-16FA37C44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 dirty="0"/>
              <a:t>Save csv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64097651-42EF-4D7F-B8A0-A7E7F7312B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662988" y="2103211"/>
            <a:ext cx="3430508" cy="4578958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 err="1"/>
              <a:t>eda_rowcount_audit</a:t>
            </a:r>
            <a:endParaRPr lang="en-US" sz="2000" dirty="0"/>
          </a:p>
          <a:p>
            <a:pPr algn="l" rtl="0"/>
            <a:r>
              <a:rPr lang="en-US" sz="2000" dirty="0" err="1"/>
              <a:t>eda_user_activity_counts</a:t>
            </a:r>
            <a:endParaRPr lang="en-US" sz="2000" dirty="0"/>
          </a:p>
          <a:p>
            <a:pPr algn="l" rtl="0"/>
            <a:r>
              <a:rPr lang="en-US" sz="1600" dirty="0" err="1"/>
              <a:t>eda_movie_popularity_counts</a:t>
            </a:r>
            <a:endParaRPr lang="en-US" sz="1600" dirty="0"/>
          </a:p>
          <a:p>
            <a:pPr algn="l" rtl="0"/>
            <a:r>
              <a:rPr lang="en-US" sz="2000" dirty="0" err="1"/>
              <a:t>eda_genre_counts</a:t>
            </a:r>
            <a:endParaRPr lang="en-US" sz="2000" dirty="0"/>
          </a:p>
          <a:p>
            <a:pPr algn="l" rtl="0"/>
            <a:r>
              <a:rPr lang="en-US" sz="2000" dirty="0" err="1"/>
              <a:t>eda_language_counts</a:t>
            </a:r>
            <a:endParaRPr lang="en-US" sz="2000" dirty="0"/>
          </a:p>
          <a:p>
            <a:pPr algn="l" rtl="0"/>
            <a:r>
              <a:rPr lang="en-US" sz="2000" dirty="0" err="1"/>
              <a:t>eda_country_counts</a:t>
            </a:r>
            <a:endParaRPr lang="en-US" sz="2000" dirty="0"/>
          </a:p>
          <a:p>
            <a:pPr algn="l" rtl="0"/>
            <a:r>
              <a:rPr lang="en-US" sz="2000" dirty="0" err="1"/>
              <a:t>eda_temporal_monthly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13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32C13-DA1E-A506-40A4-0A4544E6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0C241-8AB1-F566-7A98-58687831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9EB60C7F-DF00-FC50-AF14-5592C8CEC1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C47C06-232A-964C-2E4A-8B1B0F99A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448" y="3429000"/>
            <a:ext cx="10589103" cy="159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0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CBB4C-CC86-AC09-CC9D-2FD71090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E381-87D5-E80A-EB30-1C7ABFA1A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71E6395F-A622-F87F-DB0A-4E9EDF0E59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67012E-304F-C4F7-A46D-035D114F7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14" y="2177863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1628-F45A-5DEB-B5E8-BB0F65C9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3C9D-45FD-5E64-1CDD-CF9AEA810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064C2C45-5197-CAC0-D3C0-816FC3D24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E8C876A-4CFC-3696-4FF3-FA188F3E5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14" y="219237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1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A0E5D-F352-52F0-807B-0E2021B8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F77C6-80B6-EE14-29EB-DC5D7481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52876F2F-92B2-8290-E8EF-1F88A0B05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75EC6F-5488-D6EF-92C6-0FC33011B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14" y="2206892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88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1109F-0823-69A4-F93C-25B96547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E432-15A9-F2C1-7D5E-E048D23B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7E036723-525D-126A-193A-8D5AF690B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840845F-D0F4-E988-68E3-C816AB93E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914" y="2293978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5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B342-3F67-4431-0890-BC71816E8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D782A-A2F5-41FE-A3A9-F831E8798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DEF38F83-6BD5-9CAE-BFE2-132A71115D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87008F-4E2D-0EF8-D666-1153214F5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514" y="2235921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29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8D74-F94E-404E-34BD-55D69F0A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4F714-D189-6EF7-E572-EE8CAC66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C011DEB5-0FF3-9D8D-FB4E-3863A03CA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EDCF6F-4503-2F75-4562-C34FDDAF3C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079" y="2065676"/>
            <a:ext cx="6297842" cy="4723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11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C4B6-A44A-491A-9345-D554EBE1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Line(construction)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CFAFD888-408F-42CB-B314-5A856047E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6CA236DF-5114-4CA5-8620-41B943649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5" y="2363309"/>
            <a:ext cx="5522341" cy="823913"/>
          </a:xfrm>
        </p:spPr>
        <p:txBody>
          <a:bodyPr/>
          <a:lstStyle/>
          <a:p>
            <a:pPr rtl="0"/>
            <a:r>
              <a:rPr lang="en-US" dirty="0" err="1"/>
              <a:t>r_full</a:t>
            </a:r>
            <a:r>
              <a:rPr lang="en-US" dirty="0"/>
              <a:t> is grouped by </a:t>
            </a:r>
            <a:r>
              <a:rPr lang="en-US" dirty="0" err="1"/>
              <a:t>tmdbId</a:t>
            </a:r>
            <a:r>
              <a:rPr lang="en-US" dirty="0"/>
              <a:t> and title</a:t>
            </a:r>
          </a:p>
        </p:txBody>
      </p:sp>
      <p:grpSp>
        <p:nvGrpSpPr>
          <p:cNvPr id="44" name="Group 43" descr="steps graphic">
            <a:extLst>
              <a:ext uri="{FF2B5EF4-FFF2-40B4-BE49-F238E27FC236}">
                <a16:creationId xmlns:a16="http://schemas.microsoft.com/office/drawing/2014/main" id="{6EB24599-0719-48BC-AB48-E49D34953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31766" y="2139824"/>
            <a:ext cx="5184000" cy="3831576"/>
            <a:chOff x="6431766" y="2076324"/>
            <a:chExt cx="5184000" cy="3831576"/>
          </a:xfrm>
        </p:grpSpPr>
        <p:grpSp>
          <p:nvGrpSpPr>
            <p:cNvPr id="9" name="Group 27">
              <a:extLst>
                <a:ext uri="{FF2B5EF4-FFF2-40B4-BE49-F238E27FC236}">
                  <a16:creationId xmlns:a16="http://schemas.microsoft.com/office/drawing/2014/main" id="{CFE45C63-A0CD-4ED2-9253-02A15CFBED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1766" y="4609130"/>
              <a:ext cx="2336870" cy="1298770"/>
              <a:chOff x="4808051" y="1842051"/>
              <a:chExt cx="2369874" cy="1397540"/>
            </a:xfrm>
          </p:grpSpPr>
          <p:sp>
            <p:nvSpPr>
              <p:cNvPr id="10" name="Freeform 17">
                <a:extLst>
                  <a:ext uri="{FF2B5EF4-FFF2-40B4-BE49-F238E27FC236}">
                    <a16:creationId xmlns:a16="http://schemas.microsoft.com/office/drawing/2014/main" id="{0F99B6D3-28DD-4E91-808E-0A9D8950E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2331219"/>
                <a:ext cx="1133349" cy="908372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1" name="Freeform 18">
                <a:extLst>
                  <a:ext uri="{FF2B5EF4-FFF2-40B4-BE49-F238E27FC236}">
                    <a16:creationId xmlns:a16="http://schemas.microsoft.com/office/drawing/2014/main" id="{550D5C59-96EE-4437-9C44-B45AA3D56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1842051"/>
                <a:ext cx="2369874" cy="959190"/>
              </a:xfrm>
              <a:custGeom>
                <a:avLst/>
                <a:gdLst>
                  <a:gd name="T0" fmla="*/ 595 w 1244"/>
                  <a:gd name="T1" fmla="*/ 709 h 709"/>
                  <a:gd name="T2" fmla="*/ 0 w 1244"/>
                  <a:gd name="T3" fmla="*/ 366 h 709"/>
                  <a:gd name="T4" fmla="*/ 649 w 1244"/>
                  <a:gd name="T5" fmla="*/ 0 h 709"/>
                  <a:gd name="T6" fmla="*/ 1244 w 1244"/>
                  <a:gd name="T7" fmla="*/ 343 h 709"/>
                  <a:gd name="T8" fmla="*/ 595 w 1244"/>
                  <a:gd name="T9" fmla="*/ 709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09">
                    <a:moveTo>
                      <a:pt x="595" y="709"/>
                    </a:moveTo>
                    <a:lnTo>
                      <a:pt x="0" y="366"/>
                    </a:lnTo>
                    <a:lnTo>
                      <a:pt x="649" y="0"/>
                    </a:lnTo>
                    <a:lnTo>
                      <a:pt x="1244" y="343"/>
                    </a:lnTo>
                    <a:lnTo>
                      <a:pt x="595" y="7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2" name="Freeform 19">
                <a:extLst>
                  <a:ext uri="{FF2B5EF4-FFF2-40B4-BE49-F238E27FC236}">
                    <a16:creationId xmlns:a16="http://schemas.microsoft.com/office/drawing/2014/main" id="{163804A0-E4BE-4601-AEB6-7EC3284F52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552" y="2300082"/>
                <a:ext cx="1236373" cy="939508"/>
              </a:xfrm>
              <a:custGeom>
                <a:avLst/>
                <a:gdLst>
                  <a:gd name="T0" fmla="*/ 1236373 w 649"/>
                  <a:gd name="T1" fmla="*/ 0 h 694"/>
                  <a:gd name="T2" fmla="*/ 1236373 w 649"/>
                  <a:gd name="T3" fmla="*/ 444033 h 694"/>
                  <a:gd name="T4" fmla="*/ 0 w 649"/>
                  <a:gd name="T5" fmla="*/ 939508 h 694"/>
                  <a:gd name="T6" fmla="*/ 0 w 649"/>
                  <a:gd name="T7" fmla="*/ 495475 h 694"/>
                  <a:gd name="T8" fmla="*/ 1236373 w 649"/>
                  <a:gd name="T9" fmla="*/ 0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3" name="Group 35">
              <a:extLst>
                <a:ext uri="{FF2B5EF4-FFF2-40B4-BE49-F238E27FC236}">
                  <a16:creationId xmlns:a16="http://schemas.microsoft.com/office/drawing/2014/main" id="{BBFED9B2-8B04-4E8F-B036-2BB7CCF95C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9331" y="3859410"/>
              <a:ext cx="2336870" cy="1307583"/>
              <a:chOff x="4808051" y="4299121"/>
              <a:chExt cx="2369874" cy="1405200"/>
            </a:xfrm>
          </p:grpSpPr>
          <p:sp>
            <p:nvSpPr>
              <p:cNvPr id="14" name="Freeform 8">
                <a:extLst>
                  <a:ext uri="{FF2B5EF4-FFF2-40B4-BE49-F238E27FC236}">
                    <a16:creationId xmlns:a16="http://schemas.microsoft.com/office/drawing/2014/main" id="{7DA26508-A6A4-4F4C-AC60-E9459BF288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795540"/>
                <a:ext cx="1133349" cy="908781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</p:txBody>
          </p:sp>
          <p:sp>
            <p:nvSpPr>
              <p:cNvPr id="15" name="Freeform 9">
                <a:extLst>
                  <a:ext uri="{FF2B5EF4-FFF2-40B4-BE49-F238E27FC236}">
                    <a16:creationId xmlns:a16="http://schemas.microsoft.com/office/drawing/2014/main" id="{0FC13C28-081C-4595-9C9D-7D21EB3FA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299121"/>
                <a:ext cx="2369874" cy="961119"/>
              </a:xfrm>
              <a:custGeom>
                <a:avLst/>
                <a:gdLst>
                  <a:gd name="T0" fmla="*/ 595 w 1244"/>
                  <a:gd name="T1" fmla="*/ 710 h 710"/>
                  <a:gd name="T2" fmla="*/ 0 w 1244"/>
                  <a:gd name="T3" fmla="*/ 367 h 710"/>
                  <a:gd name="T4" fmla="*/ 649 w 1244"/>
                  <a:gd name="T5" fmla="*/ 0 h 710"/>
                  <a:gd name="T6" fmla="*/ 1244 w 1244"/>
                  <a:gd name="T7" fmla="*/ 344 h 710"/>
                  <a:gd name="T8" fmla="*/ 595 w 1244"/>
                  <a:gd name="T9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10">
                    <a:moveTo>
                      <a:pt x="595" y="710"/>
                    </a:moveTo>
                    <a:lnTo>
                      <a:pt x="0" y="367"/>
                    </a:lnTo>
                    <a:lnTo>
                      <a:pt x="649" y="0"/>
                    </a:lnTo>
                    <a:lnTo>
                      <a:pt x="1244" y="344"/>
                    </a:lnTo>
                    <a:lnTo>
                      <a:pt x="595" y="7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j-lt"/>
                </a:endParaRPr>
              </a:p>
            </p:txBody>
          </p:sp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31980248-1ADA-45C6-923A-02F742326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552" y="4764813"/>
                <a:ext cx="1236373" cy="939508"/>
              </a:xfrm>
              <a:custGeom>
                <a:avLst/>
                <a:gdLst>
                  <a:gd name="T0" fmla="*/ 1236373 w 649"/>
                  <a:gd name="T1" fmla="*/ 0 h 694"/>
                  <a:gd name="T2" fmla="*/ 1236373 w 649"/>
                  <a:gd name="T3" fmla="*/ 444033 h 694"/>
                  <a:gd name="T4" fmla="*/ 0 w 649"/>
                  <a:gd name="T5" fmla="*/ 939508 h 694"/>
                  <a:gd name="T6" fmla="*/ 0 w 649"/>
                  <a:gd name="T7" fmla="*/ 495475 h 694"/>
                  <a:gd name="T8" fmla="*/ 1236373 w 649"/>
                  <a:gd name="T9" fmla="*/ 0 h 6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>
                  <a:latin typeface="+mj-lt"/>
                </a:endParaRPr>
              </a:p>
            </p:txBody>
          </p:sp>
        </p:grpSp>
        <p:grpSp>
          <p:nvGrpSpPr>
            <p:cNvPr id="17" name="Group 39">
              <a:extLst>
                <a:ext uri="{FF2B5EF4-FFF2-40B4-BE49-F238E27FC236}">
                  <a16:creationId xmlns:a16="http://schemas.microsoft.com/office/drawing/2014/main" id="{DBAE3F99-4416-43BB-802B-06B8C3273C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9940" y="3145110"/>
              <a:ext cx="2335304" cy="1306106"/>
              <a:chOff x="4808051" y="5135743"/>
              <a:chExt cx="2369874" cy="140520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86042750-61FD-40FA-B325-3248D0B0B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5632723"/>
                <a:ext cx="1134109" cy="908220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D2485B1E-22DE-4313-87F3-58173AEAC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5135743"/>
                <a:ext cx="2369874" cy="960617"/>
              </a:xfrm>
              <a:custGeom>
                <a:avLst/>
                <a:gdLst>
                  <a:gd name="T0" fmla="*/ 595 w 1244"/>
                  <a:gd name="T1" fmla="*/ 710 h 710"/>
                  <a:gd name="T2" fmla="*/ 0 w 1244"/>
                  <a:gd name="T3" fmla="*/ 367 h 710"/>
                  <a:gd name="T4" fmla="*/ 649 w 1244"/>
                  <a:gd name="T5" fmla="*/ 0 h 710"/>
                  <a:gd name="T6" fmla="*/ 1244 w 1244"/>
                  <a:gd name="T7" fmla="*/ 344 h 710"/>
                  <a:gd name="T8" fmla="*/ 595 w 1244"/>
                  <a:gd name="T9" fmla="*/ 710 h 7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10">
                    <a:moveTo>
                      <a:pt x="595" y="710"/>
                    </a:moveTo>
                    <a:lnTo>
                      <a:pt x="0" y="367"/>
                    </a:lnTo>
                    <a:lnTo>
                      <a:pt x="649" y="0"/>
                    </a:lnTo>
                    <a:lnTo>
                      <a:pt x="1244" y="344"/>
                    </a:lnTo>
                    <a:lnTo>
                      <a:pt x="595" y="7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6D372190-F03C-4E10-9BB3-D0799862D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2160" y="5600967"/>
                <a:ext cx="1235765" cy="939976"/>
              </a:xfrm>
              <a:custGeom>
                <a:avLst/>
                <a:gdLst>
                  <a:gd name="T0" fmla="*/ 649 w 649"/>
                  <a:gd name="T1" fmla="*/ 0 h 694"/>
                  <a:gd name="T2" fmla="*/ 649 w 649"/>
                  <a:gd name="T3" fmla="*/ 328 h 694"/>
                  <a:gd name="T4" fmla="*/ 0 w 649"/>
                  <a:gd name="T5" fmla="*/ 694 h 694"/>
                  <a:gd name="T6" fmla="*/ 0 w 649"/>
                  <a:gd name="T7" fmla="*/ 366 h 694"/>
                  <a:gd name="T8" fmla="*/ 649 w 649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21" name="Group 31">
              <a:extLst>
                <a:ext uri="{FF2B5EF4-FFF2-40B4-BE49-F238E27FC236}">
                  <a16:creationId xmlns:a16="http://schemas.microsoft.com/office/drawing/2014/main" id="{AAF307FC-5513-426F-BB40-B722D6DF2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78897" y="2438188"/>
              <a:ext cx="2336869" cy="1304631"/>
              <a:chOff x="4808051" y="3515295"/>
              <a:chExt cx="2369874" cy="1403847"/>
            </a:xfrm>
          </p:grpSpPr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74A81D7B-94A3-42C9-80AC-62D5D0110B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4010770"/>
                <a:ext cx="1133349" cy="908372"/>
              </a:xfrm>
              <a:custGeom>
                <a:avLst/>
                <a:gdLst>
                  <a:gd name="T0" fmla="*/ 595 w 595"/>
                  <a:gd name="T1" fmla="*/ 671 h 671"/>
                  <a:gd name="T2" fmla="*/ 0 w 595"/>
                  <a:gd name="T3" fmla="*/ 328 h 671"/>
                  <a:gd name="T4" fmla="*/ 0 w 595"/>
                  <a:gd name="T5" fmla="*/ 0 h 671"/>
                  <a:gd name="T6" fmla="*/ 595 w 595"/>
                  <a:gd name="T7" fmla="*/ 343 h 671"/>
                  <a:gd name="T8" fmla="*/ 595 w 595"/>
                  <a:gd name="T9" fmla="*/ 671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5" h="671">
                    <a:moveTo>
                      <a:pt x="595" y="671"/>
                    </a:moveTo>
                    <a:lnTo>
                      <a:pt x="0" y="328"/>
                    </a:lnTo>
                    <a:lnTo>
                      <a:pt x="0" y="0"/>
                    </a:lnTo>
                    <a:lnTo>
                      <a:pt x="595" y="343"/>
                    </a:lnTo>
                    <a:lnTo>
                      <a:pt x="595" y="671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3" name="Freeform 12">
                <a:extLst>
                  <a:ext uri="{FF2B5EF4-FFF2-40B4-BE49-F238E27FC236}">
                    <a16:creationId xmlns:a16="http://schemas.microsoft.com/office/drawing/2014/main" id="{C157D7EE-659C-409B-A1E6-7D05687D7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8051" y="3515295"/>
                <a:ext cx="2369874" cy="959190"/>
              </a:xfrm>
              <a:custGeom>
                <a:avLst/>
                <a:gdLst>
                  <a:gd name="T0" fmla="*/ 595 w 1244"/>
                  <a:gd name="T1" fmla="*/ 709 h 709"/>
                  <a:gd name="T2" fmla="*/ 0 w 1244"/>
                  <a:gd name="T3" fmla="*/ 366 h 709"/>
                  <a:gd name="T4" fmla="*/ 649 w 1244"/>
                  <a:gd name="T5" fmla="*/ 0 h 709"/>
                  <a:gd name="T6" fmla="*/ 1244 w 1244"/>
                  <a:gd name="T7" fmla="*/ 343 h 709"/>
                  <a:gd name="T8" fmla="*/ 595 w 1244"/>
                  <a:gd name="T9" fmla="*/ 709 h 7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44" h="709">
                    <a:moveTo>
                      <a:pt x="595" y="709"/>
                    </a:moveTo>
                    <a:lnTo>
                      <a:pt x="0" y="366"/>
                    </a:lnTo>
                    <a:lnTo>
                      <a:pt x="649" y="0"/>
                    </a:lnTo>
                    <a:lnTo>
                      <a:pt x="1244" y="343"/>
                    </a:lnTo>
                    <a:lnTo>
                      <a:pt x="595" y="7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  <p:sp>
            <p:nvSpPr>
              <p:cNvPr id="24" name="Freeform 13">
                <a:extLst>
                  <a:ext uri="{FF2B5EF4-FFF2-40B4-BE49-F238E27FC236}">
                    <a16:creationId xmlns:a16="http://schemas.microsoft.com/office/drawing/2014/main" id="{0F6A3B05-53B7-4EA3-88B4-ED578C58E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1400" y="3976396"/>
                <a:ext cx="1236525" cy="940133"/>
              </a:xfrm>
              <a:custGeom>
                <a:avLst/>
                <a:gdLst>
                  <a:gd name="T0" fmla="*/ 649 w 649"/>
                  <a:gd name="T1" fmla="*/ 0 h 694"/>
                  <a:gd name="T2" fmla="*/ 649 w 649"/>
                  <a:gd name="T3" fmla="*/ 328 h 694"/>
                  <a:gd name="T4" fmla="*/ 0 w 649"/>
                  <a:gd name="T5" fmla="*/ 694 h 694"/>
                  <a:gd name="T6" fmla="*/ 0 w 649"/>
                  <a:gd name="T7" fmla="*/ 366 h 694"/>
                  <a:gd name="T8" fmla="*/ 649 w 649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9" h="694">
                    <a:moveTo>
                      <a:pt x="649" y="0"/>
                    </a:moveTo>
                    <a:lnTo>
                      <a:pt x="649" y="328"/>
                    </a:lnTo>
                    <a:lnTo>
                      <a:pt x="0" y="694"/>
                    </a:lnTo>
                    <a:lnTo>
                      <a:pt x="0" y="366"/>
                    </a:lnTo>
                    <a:lnTo>
                      <a:pt x="64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latin typeface="+mn-lt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C384F39-BE7C-4DC7-9463-38206393DEC4}"/>
                </a:ext>
              </a:extLst>
            </p:cNvPr>
            <p:cNvGrpSpPr/>
            <p:nvPr/>
          </p:nvGrpSpPr>
          <p:grpSpPr>
            <a:xfrm>
              <a:off x="7668115" y="3549446"/>
              <a:ext cx="529043" cy="396000"/>
              <a:chOff x="7687796" y="3553060"/>
              <a:chExt cx="529043" cy="396000"/>
            </a:xfrm>
          </p:grpSpPr>
          <p:sp>
            <p:nvSpPr>
              <p:cNvPr id="26" name="Teardrop 25">
                <a:extLst>
                  <a:ext uri="{FF2B5EF4-FFF2-40B4-BE49-F238E27FC236}">
                    <a16:creationId xmlns:a16="http://schemas.microsoft.com/office/drawing/2014/main" id="{E668D9BC-775F-4484-A481-0A547E2A5D3E}"/>
                  </a:ext>
                </a:extLst>
              </p:cNvPr>
              <p:cNvSpPr/>
              <p:nvPr/>
            </p:nvSpPr>
            <p:spPr>
              <a:xfrm rot="7994273">
                <a:off x="7750851" y="3553060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C18C2F6-BC37-4856-9C97-AB28F5F35F30}"/>
                  </a:ext>
                </a:extLst>
              </p:cNvPr>
              <p:cNvSpPr/>
              <p:nvPr/>
            </p:nvSpPr>
            <p:spPr>
              <a:xfrm>
                <a:off x="7800745" y="3600615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F68FA9-42C6-4204-B804-635DC098A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7796" y="3587891"/>
                <a:ext cx="52904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2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3A0B2E9-CE29-4F7C-AFC9-679B8873B095}"/>
                </a:ext>
              </a:extLst>
            </p:cNvPr>
            <p:cNvGrpSpPr/>
            <p:nvPr/>
          </p:nvGrpSpPr>
          <p:grpSpPr>
            <a:xfrm>
              <a:off x="6694640" y="4272888"/>
              <a:ext cx="527478" cy="396000"/>
              <a:chOff x="6694640" y="4272888"/>
              <a:chExt cx="527478" cy="396000"/>
            </a:xfrm>
          </p:grpSpPr>
          <p:sp>
            <p:nvSpPr>
              <p:cNvPr id="29" name="Teardrop 28">
                <a:extLst>
                  <a:ext uri="{FF2B5EF4-FFF2-40B4-BE49-F238E27FC236}">
                    <a16:creationId xmlns:a16="http://schemas.microsoft.com/office/drawing/2014/main" id="{714DA6B9-3503-4743-B96D-C0387E3433EB}"/>
                  </a:ext>
                </a:extLst>
              </p:cNvPr>
              <p:cNvSpPr/>
              <p:nvPr/>
            </p:nvSpPr>
            <p:spPr>
              <a:xfrm rot="7994273">
                <a:off x="6757610" y="4272888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0538BF2D-7205-429C-9920-69C767E77FD5}"/>
                  </a:ext>
                </a:extLst>
              </p:cNvPr>
              <p:cNvSpPr/>
              <p:nvPr/>
            </p:nvSpPr>
            <p:spPr>
              <a:xfrm>
                <a:off x="6807876" y="4320739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CCC179C-E666-4CBA-8225-E9AE8F63B9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4640" y="4304252"/>
                <a:ext cx="527478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1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76D10B-6ACE-4638-AB7A-1EF3942918AD}"/>
                </a:ext>
              </a:extLst>
            </p:cNvPr>
            <p:cNvGrpSpPr/>
            <p:nvPr/>
          </p:nvGrpSpPr>
          <p:grpSpPr>
            <a:xfrm>
              <a:off x="8607357" y="2825895"/>
              <a:ext cx="529043" cy="396000"/>
              <a:chOff x="8505184" y="2844945"/>
              <a:chExt cx="529043" cy="3960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0767904-B09B-41EB-A4C9-DA5D7C8E09E8}"/>
                  </a:ext>
                </a:extLst>
              </p:cNvPr>
              <p:cNvSpPr/>
              <p:nvPr/>
            </p:nvSpPr>
            <p:spPr>
              <a:xfrm>
                <a:off x="8618133" y="2898296"/>
                <a:ext cx="301007" cy="28381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736825B-C1D7-48B5-B010-D3116A534D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505184" y="2872872"/>
                <a:ext cx="529043" cy="3077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Open Sans Light" pitchFamily="34" charset="0"/>
                  </a:defRPr>
                </a:lvl9pPr>
              </a:lstStyle>
              <a:p>
                <a:pPr algn="ctr" eaLnBrk="1" hangingPunct="1"/>
                <a:r>
                  <a:rPr lang="en-US" altLang="en-US" sz="1400" b="1" dirty="0">
                    <a:latin typeface="+mj-lt"/>
                  </a:rPr>
                  <a:t>3</a:t>
                </a:r>
              </a:p>
            </p:txBody>
          </p:sp>
          <p:sp>
            <p:nvSpPr>
              <p:cNvPr id="68" name="Teardrop 67">
                <a:extLst>
                  <a:ext uri="{FF2B5EF4-FFF2-40B4-BE49-F238E27FC236}">
                    <a16:creationId xmlns:a16="http://schemas.microsoft.com/office/drawing/2014/main" id="{6A511322-FCB6-4287-85D1-8002AF8690E8}"/>
                  </a:ext>
                </a:extLst>
              </p:cNvPr>
              <p:cNvSpPr/>
              <p:nvPr/>
            </p:nvSpPr>
            <p:spPr>
              <a:xfrm rot="7994273">
                <a:off x="8570636" y="2844945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363545A-9938-4AE2-BE9F-9DD50FC1DC56}"/>
                </a:ext>
              </a:extLst>
            </p:cNvPr>
            <p:cNvGrpSpPr/>
            <p:nvPr/>
          </p:nvGrpSpPr>
          <p:grpSpPr>
            <a:xfrm>
              <a:off x="9564497" y="2076324"/>
              <a:ext cx="529043" cy="396000"/>
              <a:chOff x="9564497" y="2089024"/>
              <a:chExt cx="529043" cy="396000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6D2B501A-72D7-40B8-9802-DE6E8019ADB1}"/>
                  </a:ext>
                </a:extLst>
              </p:cNvPr>
              <p:cNvGrpSpPr/>
              <p:nvPr/>
            </p:nvGrpSpPr>
            <p:grpSpPr>
              <a:xfrm>
                <a:off x="9564497" y="2116951"/>
                <a:ext cx="529043" cy="309240"/>
                <a:chOff x="9564497" y="2116951"/>
                <a:chExt cx="529043" cy="309240"/>
              </a:xfrm>
            </p:grpSpPr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A1A0480E-9E12-4EA2-BCCF-0C55EF3201CC}"/>
                    </a:ext>
                  </a:extLst>
                </p:cNvPr>
                <p:cNvSpPr/>
                <p:nvPr/>
              </p:nvSpPr>
              <p:spPr>
                <a:xfrm>
                  <a:off x="9683796" y="2142375"/>
                  <a:ext cx="301007" cy="28381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3200" dirty="0">
                    <a:latin typeface="+mj-lt"/>
                  </a:endParaRPr>
                </a:p>
              </p:txBody>
            </p:sp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C5B3665F-4DAC-41AB-8260-BF53DC2396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564497" y="2116951"/>
                  <a:ext cx="529043" cy="30777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Open Sans Light" pitchFamily="34" charset="0"/>
                    </a:defRPr>
                  </a:lvl9pPr>
                </a:lstStyle>
                <a:p>
                  <a:pPr algn="ctr" eaLnBrk="1" hangingPunct="1"/>
                  <a:r>
                    <a:rPr lang="en-US" altLang="en-US" sz="1400" b="1" dirty="0">
                      <a:latin typeface="+mj-lt"/>
                    </a:rPr>
                    <a:t>4</a:t>
                  </a:r>
                </a:p>
              </p:txBody>
            </p:sp>
          </p:grpSp>
          <p:sp>
            <p:nvSpPr>
              <p:cNvPr id="71" name="Teardrop 70">
                <a:extLst>
                  <a:ext uri="{FF2B5EF4-FFF2-40B4-BE49-F238E27FC236}">
                    <a16:creationId xmlns:a16="http://schemas.microsoft.com/office/drawing/2014/main" id="{8FD8D4C2-2B0C-4395-B822-9A684D330211}"/>
                  </a:ext>
                </a:extLst>
              </p:cNvPr>
              <p:cNvSpPr/>
              <p:nvPr/>
            </p:nvSpPr>
            <p:spPr>
              <a:xfrm rot="7994273">
                <a:off x="9636299" y="2089024"/>
                <a:ext cx="396000" cy="396000"/>
              </a:xfrm>
              <a:prstGeom prst="teardrop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3200" dirty="0">
                  <a:latin typeface="+mj-lt"/>
                </a:endParaRPr>
              </a:p>
            </p:txBody>
          </p:sp>
        </p:grpSp>
      </p:grp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32D4A98D-0CA5-335C-780A-AA17FC7E3CF2}"/>
              </a:ext>
            </a:extLst>
          </p:cNvPr>
          <p:cNvSpPr txBox="1">
            <a:spLocks/>
          </p:cNvSpPr>
          <p:nvPr/>
        </p:nvSpPr>
        <p:spPr>
          <a:xfrm>
            <a:off x="473132" y="3043598"/>
            <a:ext cx="5105235" cy="8239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dirty="0"/>
              <a:t>Ri: mean rating</a:t>
            </a:r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99672E9E-8D39-1618-DF4B-5CFD935BCBDC}"/>
              </a:ext>
            </a:extLst>
          </p:cNvPr>
          <p:cNvSpPr txBox="1">
            <a:spLocks/>
          </p:cNvSpPr>
          <p:nvPr/>
        </p:nvSpPr>
        <p:spPr>
          <a:xfrm>
            <a:off x="505364" y="3752712"/>
            <a:ext cx="4433401" cy="8239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dirty="0"/>
              <a:t>Vi: vote count</a:t>
            </a:r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F5595D7B-FEF9-AACE-262B-643D1DA8C53C}"/>
              </a:ext>
            </a:extLst>
          </p:cNvPr>
          <p:cNvSpPr txBox="1">
            <a:spLocks/>
          </p:cNvSpPr>
          <p:nvPr/>
        </p:nvSpPr>
        <p:spPr>
          <a:xfrm>
            <a:off x="473132" y="4406580"/>
            <a:ext cx="5376431" cy="8239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altLang="fa-IR" dirty="0">
                <a:latin typeface="Trebuchet MS (Body)"/>
              </a:rPr>
              <a:t>Attach genres list</a:t>
            </a:r>
            <a:endParaRPr lang="fa-IR" altLang="fa-IR" dirty="0">
              <a:latin typeface="Trebuchet MS (Body)"/>
            </a:endParaRPr>
          </a:p>
        </p:txBody>
      </p:sp>
    </p:spTree>
    <p:extLst>
      <p:ext uri="{BB962C8B-B14F-4D97-AF65-F5344CB8AC3E}">
        <p14:creationId xmlns:p14="http://schemas.microsoft.com/office/powerpoint/2010/main" val="812016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E30B-392D-4691-8125-129E25AA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What does it return?</a:t>
            </a:r>
          </a:p>
        </p:txBody>
      </p:sp>
      <p:pic>
        <p:nvPicPr>
          <p:cNvPr id="5" name="Graphic 4" descr="Purpose icon">
            <a:extLst>
              <a:ext uri="{FF2B5EF4-FFF2-40B4-BE49-F238E27FC236}">
                <a16:creationId xmlns:a16="http://schemas.microsoft.com/office/drawing/2014/main" id="{28F7ACE2-5D39-488F-AF39-9DEDFF0FF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6" y="2947289"/>
            <a:ext cx="936000" cy="936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2A41D-6B6E-4DD0-A7BD-E8CA00126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400" dirty="0"/>
              <a:t>C: weighted mean of all ratings.</a:t>
            </a:r>
          </a:p>
          <a:p>
            <a:pPr algn="l" rtl="0"/>
            <a:r>
              <a:rPr lang="en-US" sz="2400" dirty="0"/>
              <a:t>m: 80% of the vote counts.</a:t>
            </a:r>
          </a:p>
          <a:p>
            <a:pPr algn="l" rtl="0"/>
            <a:r>
              <a:rPr lang="en-US" sz="2400" dirty="0"/>
              <a:t>WR: global weighted ratings.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5843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D0989-E3E5-41DB-A78D-61E19949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two main approaches!</a:t>
            </a:r>
          </a:p>
        </p:txBody>
      </p:sp>
      <p:pic>
        <p:nvPicPr>
          <p:cNvPr id="6" name="Graphic 5" descr="Learning icon">
            <a:extLst>
              <a:ext uri="{FF2B5EF4-FFF2-40B4-BE49-F238E27FC236}">
                <a16:creationId xmlns:a16="http://schemas.microsoft.com/office/drawing/2014/main" id="{FE130EDC-6F0A-417B-A698-CF2C65F0A3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946" y="613889"/>
            <a:ext cx="1440000" cy="1440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23205-1719-4B43-A690-268E347D3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55771" y="2322358"/>
            <a:ext cx="6656993" cy="3599316"/>
          </a:xfrm>
        </p:spPr>
        <p:txBody>
          <a:bodyPr/>
          <a:lstStyle/>
          <a:p>
            <a:pPr algn="l" rtl="0"/>
            <a:r>
              <a:rPr lang="en-US" dirty="0"/>
              <a:t>Calculate weighted rating for a genre group.</a:t>
            </a:r>
          </a:p>
          <a:p>
            <a:pPr algn="l" rtl="0"/>
            <a:r>
              <a:rPr lang="en-US" dirty="0"/>
              <a:t>Calculating per-genre weighted ratings.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Freeform 56">
            <a:extLst>
              <a:ext uri="{FF2B5EF4-FFF2-40B4-BE49-F238E27FC236}">
                <a16:creationId xmlns:a16="http://schemas.microsoft.com/office/drawing/2014/main" id="{BF43FEEA-7CC7-4526-7EE0-30128FE3C481}"/>
              </a:ext>
            </a:extLst>
          </p:cNvPr>
          <p:cNvSpPr>
            <a:spLocks/>
          </p:cNvSpPr>
          <p:nvPr/>
        </p:nvSpPr>
        <p:spPr bwMode="auto">
          <a:xfrm>
            <a:off x="7971238" y="4060555"/>
            <a:ext cx="1986815" cy="1159045"/>
          </a:xfrm>
          <a:custGeom>
            <a:avLst/>
            <a:gdLst>
              <a:gd name="T0" fmla="*/ 1420 w 963"/>
              <a:gd name="T1" fmla="*/ 0 h 562"/>
              <a:gd name="T2" fmla="*/ 1420 w 963"/>
              <a:gd name="T3" fmla="*/ 195 h 562"/>
              <a:gd name="T4" fmla="*/ 892 w 963"/>
              <a:gd name="T5" fmla="*/ 195 h 562"/>
              <a:gd name="T6" fmla="*/ 801 w 963"/>
              <a:gd name="T7" fmla="*/ 238 h 562"/>
              <a:gd name="T8" fmla="*/ 47 w 963"/>
              <a:gd name="T9" fmla="*/ 991 h 562"/>
              <a:gd name="T10" fmla="*/ 25 w 963"/>
              <a:gd name="T11" fmla="*/ 1132 h 562"/>
              <a:gd name="T12" fmla="*/ 58 w 963"/>
              <a:gd name="T13" fmla="*/ 1026 h 562"/>
              <a:gd name="T14" fmla="*/ 232 w 963"/>
              <a:gd name="T15" fmla="*/ 956 h 562"/>
              <a:gd name="T16" fmla="*/ 1385 w 963"/>
              <a:gd name="T17" fmla="*/ 956 h 562"/>
              <a:gd name="T18" fmla="*/ 1385 w 963"/>
              <a:gd name="T19" fmla="*/ 1155 h 562"/>
              <a:gd name="T20" fmla="*/ 1979 w 963"/>
              <a:gd name="T21" fmla="*/ 561 h 562"/>
              <a:gd name="T22" fmla="*/ 1420 w 963"/>
              <a:gd name="T23" fmla="*/ 0 h 56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63" h="562">
                <a:moveTo>
                  <a:pt x="691" y="0"/>
                </a:moveTo>
                <a:cubicBezTo>
                  <a:pt x="691" y="95"/>
                  <a:pt x="691" y="95"/>
                  <a:pt x="691" y="95"/>
                </a:cubicBezTo>
                <a:cubicBezTo>
                  <a:pt x="434" y="95"/>
                  <a:pt x="434" y="95"/>
                  <a:pt x="434" y="95"/>
                </a:cubicBezTo>
                <a:cubicBezTo>
                  <a:pt x="434" y="95"/>
                  <a:pt x="412" y="93"/>
                  <a:pt x="390" y="116"/>
                </a:cubicBezTo>
                <a:cubicBezTo>
                  <a:pt x="368" y="138"/>
                  <a:pt x="23" y="482"/>
                  <a:pt x="23" y="482"/>
                </a:cubicBezTo>
                <a:cubicBezTo>
                  <a:pt x="23" y="482"/>
                  <a:pt x="0" y="504"/>
                  <a:pt x="12" y="551"/>
                </a:cubicBezTo>
                <a:cubicBezTo>
                  <a:pt x="12" y="551"/>
                  <a:pt x="8" y="520"/>
                  <a:pt x="28" y="499"/>
                </a:cubicBezTo>
                <a:cubicBezTo>
                  <a:pt x="49" y="479"/>
                  <a:pt x="81" y="466"/>
                  <a:pt x="113" y="465"/>
                </a:cubicBezTo>
                <a:cubicBezTo>
                  <a:pt x="146" y="465"/>
                  <a:pt x="674" y="465"/>
                  <a:pt x="674" y="465"/>
                </a:cubicBezTo>
                <a:cubicBezTo>
                  <a:pt x="674" y="562"/>
                  <a:pt x="674" y="562"/>
                  <a:pt x="674" y="562"/>
                </a:cubicBezTo>
                <a:cubicBezTo>
                  <a:pt x="963" y="273"/>
                  <a:pt x="963" y="273"/>
                  <a:pt x="963" y="273"/>
                </a:cubicBezTo>
                <a:cubicBezTo>
                  <a:pt x="691" y="0"/>
                  <a:pt x="691" y="0"/>
                  <a:pt x="691" y="0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+mj-lt"/>
            </a:endParaRPr>
          </a:p>
        </p:txBody>
      </p:sp>
      <p:sp>
        <p:nvSpPr>
          <p:cNvPr id="9" name="Freeform 59">
            <a:extLst>
              <a:ext uri="{FF2B5EF4-FFF2-40B4-BE49-F238E27FC236}">
                <a16:creationId xmlns:a16="http://schemas.microsoft.com/office/drawing/2014/main" id="{37B53FF4-F9EB-5ED6-BFB2-78EFA5934992}"/>
              </a:ext>
            </a:extLst>
          </p:cNvPr>
          <p:cNvSpPr>
            <a:spLocks/>
          </p:cNvSpPr>
          <p:nvPr/>
        </p:nvSpPr>
        <p:spPr bwMode="auto">
          <a:xfrm>
            <a:off x="10121698" y="4268280"/>
            <a:ext cx="1157553" cy="1985930"/>
          </a:xfrm>
          <a:custGeom>
            <a:avLst/>
            <a:gdLst>
              <a:gd name="T0" fmla="*/ 10 w 561"/>
              <a:gd name="T1" fmla="*/ 12 h 963"/>
              <a:gd name="T2" fmla="*/ 62 w 561"/>
              <a:gd name="T3" fmla="*/ 29 h 963"/>
              <a:gd name="T4" fmla="*/ 96 w 561"/>
              <a:gd name="T5" fmla="*/ 114 h 963"/>
              <a:gd name="T6" fmla="*/ 96 w 561"/>
              <a:gd name="T7" fmla="*/ 674 h 963"/>
              <a:gd name="T8" fmla="*/ 0 w 561"/>
              <a:gd name="T9" fmla="*/ 674 h 963"/>
              <a:gd name="T10" fmla="*/ 289 w 561"/>
              <a:gd name="T11" fmla="*/ 963 h 963"/>
              <a:gd name="T12" fmla="*/ 561 w 561"/>
              <a:gd name="T13" fmla="*/ 691 h 963"/>
              <a:gd name="T14" fmla="*/ 466 w 561"/>
              <a:gd name="T15" fmla="*/ 691 h 963"/>
              <a:gd name="T16" fmla="*/ 466 w 561"/>
              <a:gd name="T17" fmla="*/ 435 h 963"/>
              <a:gd name="T18" fmla="*/ 446 w 561"/>
              <a:gd name="T19" fmla="*/ 390 h 963"/>
              <a:gd name="T20" fmla="*/ 80 w 561"/>
              <a:gd name="T21" fmla="*/ 24 h 963"/>
              <a:gd name="T22" fmla="*/ 10 w 561"/>
              <a:gd name="T23" fmla="*/ 12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61" h="963">
                <a:moveTo>
                  <a:pt x="10" y="12"/>
                </a:moveTo>
                <a:cubicBezTo>
                  <a:pt x="10" y="12"/>
                  <a:pt x="42" y="8"/>
                  <a:pt x="62" y="29"/>
                </a:cubicBezTo>
                <a:cubicBezTo>
                  <a:pt x="82" y="49"/>
                  <a:pt x="95" y="81"/>
                  <a:pt x="96" y="114"/>
                </a:cubicBezTo>
                <a:cubicBezTo>
                  <a:pt x="97" y="146"/>
                  <a:pt x="96" y="674"/>
                  <a:pt x="96" y="674"/>
                </a:cubicBezTo>
                <a:cubicBezTo>
                  <a:pt x="0" y="674"/>
                  <a:pt x="0" y="674"/>
                  <a:pt x="0" y="674"/>
                </a:cubicBezTo>
                <a:cubicBezTo>
                  <a:pt x="289" y="963"/>
                  <a:pt x="289" y="963"/>
                  <a:pt x="289" y="963"/>
                </a:cubicBezTo>
                <a:cubicBezTo>
                  <a:pt x="561" y="691"/>
                  <a:pt x="561" y="691"/>
                  <a:pt x="561" y="691"/>
                </a:cubicBezTo>
                <a:cubicBezTo>
                  <a:pt x="466" y="691"/>
                  <a:pt x="466" y="691"/>
                  <a:pt x="466" y="691"/>
                </a:cubicBezTo>
                <a:cubicBezTo>
                  <a:pt x="466" y="435"/>
                  <a:pt x="466" y="435"/>
                  <a:pt x="466" y="435"/>
                </a:cubicBezTo>
                <a:cubicBezTo>
                  <a:pt x="466" y="435"/>
                  <a:pt x="468" y="412"/>
                  <a:pt x="446" y="390"/>
                </a:cubicBezTo>
                <a:cubicBezTo>
                  <a:pt x="424" y="368"/>
                  <a:pt x="80" y="24"/>
                  <a:pt x="80" y="24"/>
                </a:cubicBezTo>
                <a:cubicBezTo>
                  <a:pt x="80" y="24"/>
                  <a:pt x="57" y="0"/>
                  <a:pt x="10" y="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8B4535-4772-A478-4523-DDF1A4522F38}"/>
              </a:ext>
            </a:extLst>
          </p:cNvPr>
          <p:cNvCxnSpPr/>
          <p:nvPr/>
        </p:nvCxnSpPr>
        <p:spPr bwMode="auto">
          <a:xfrm flipH="1" flipV="1">
            <a:off x="9058334" y="3954624"/>
            <a:ext cx="209815" cy="27622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A26383-BC67-F92F-80AF-C0A2A4B6EE86}"/>
              </a:ext>
            </a:extLst>
          </p:cNvPr>
          <p:cNvCxnSpPr/>
          <p:nvPr/>
        </p:nvCxnSpPr>
        <p:spPr bwMode="auto">
          <a:xfrm flipH="1">
            <a:off x="8296149" y="3954624"/>
            <a:ext cx="762185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8">
            <a:extLst>
              <a:ext uri="{FF2B5EF4-FFF2-40B4-BE49-F238E27FC236}">
                <a16:creationId xmlns:a16="http://schemas.microsoft.com/office/drawing/2014/main" id="{5BB4AC28-980E-FC33-0244-EACBEF779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545" y="3469098"/>
            <a:ext cx="1104900" cy="990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2400" dirty="0">
                <a:latin typeface="+mj-lt"/>
              </a:rPr>
              <a:t>CG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53C97D-65C2-0586-44D6-FE8DF189BA2F}"/>
              </a:ext>
            </a:extLst>
          </p:cNvPr>
          <p:cNvSpPr txBox="1"/>
          <p:nvPr/>
        </p:nvSpPr>
        <p:spPr>
          <a:xfrm>
            <a:off x="4220763" y="3762515"/>
            <a:ext cx="2807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 err="1">
                <a:latin typeface="+mj-lt"/>
              </a:rPr>
              <a:t>genre_wr</a:t>
            </a:r>
            <a:r>
              <a:rPr lang="en-US" sz="1600" dirty="0">
                <a:latin typeface="+mj-lt"/>
              </a:rPr>
              <a:t>(self, Cg):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8A2DFD7-F729-6D0B-160D-8750DDC8CDCE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0163234" y="5853341"/>
            <a:ext cx="261849" cy="29692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B8081B-8593-A6F6-0644-411CB6D81830}"/>
              </a:ext>
            </a:extLst>
          </p:cNvPr>
          <p:cNvCxnSpPr/>
          <p:nvPr/>
        </p:nvCxnSpPr>
        <p:spPr bwMode="auto">
          <a:xfrm flipH="1">
            <a:off x="9401049" y="5853341"/>
            <a:ext cx="762185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8">
            <a:extLst>
              <a:ext uri="{FF2B5EF4-FFF2-40B4-BE49-F238E27FC236}">
                <a16:creationId xmlns:a16="http://schemas.microsoft.com/office/drawing/2014/main" id="{10643B13-4D50-15B0-5658-180F5D12A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1445" y="5367815"/>
            <a:ext cx="1104900" cy="990600"/>
          </a:xfrm>
          <a:prstGeom prst="roundRect">
            <a:avLst>
              <a:gd name="adj" fmla="val 1666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sz="1400" dirty="0" err="1"/>
              <a:t>Per_genre</a:t>
            </a:r>
            <a:endParaRPr lang="en-US" alt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E632D5-27CE-48CC-3C0C-A579D1D2429A}"/>
              </a:ext>
            </a:extLst>
          </p:cNvPr>
          <p:cNvSpPr txBox="1"/>
          <p:nvPr/>
        </p:nvSpPr>
        <p:spPr>
          <a:xfrm>
            <a:off x="5325663" y="5661232"/>
            <a:ext cx="2807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 err="1">
                <a:latin typeface="+mj-lt"/>
              </a:rPr>
              <a:t>Per_genre</a:t>
            </a:r>
            <a:r>
              <a:rPr lang="en-US" sz="1600" dirty="0">
                <a:latin typeface="+mj-lt"/>
              </a:rPr>
              <a:t>(self):</a:t>
            </a:r>
          </a:p>
        </p:txBody>
      </p:sp>
    </p:spTree>
    <p:extLst>
      <p:ext uri="{BB962C8B-B14F-4D97-AF65-F5344CB8AC3E}">
        <p14:creationId xmlns:p14="http://schemas.microsoft.com/office/powerpoint/2010/main" val="420520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877F-47EE-91D6-169C-E98258D90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BB95F-1840-EFCA-116F-96087408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WR parameters: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4156A270-9376-F89B-9D02-2978FD2747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7FF45744-3186-C87E-9717-CAEBE31207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8265541" cy="823913"/>
          </a:xfrm>
        </p:spPr>
        <p:txBody>
          <a:bodyPr/>
          <a:lstStyle/>
          <a:p>
            <a:pPr rtl="0"/>
            <a:r>
              <a:rPr lang="en-US" dirty="0"/>
              <a:t>{C: np.float64(3.543), m: 13, </a:t>
            </a:r>
            <a:r>
              <a:rPr lang="en-US" dirty="0" err="1"/>
              <a:t>m_quantile</a:t>
            </a:r>
            <a:r>
              <a:rPr lang="en-US" dirty="0"/>
              <a:t>: 0.8}</a:t>
            </a:r>
          </a:p>
        </p:txBody>
      </p:sp>
    </p:spTree>
    <p:extLst>
      <p:ext uri="{BB962C8B-B14F-4D97-AF65-F5344CB8AC3E}">
        <p14:creationId xmlns:p14="http://schemas.microsoft.com/office/powerpoint/2010/main" val="342688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76EB-E1AA-8271-4B5D-260E20B79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1C1FF-7AE6-F080-C4BB-A5E2C0602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10 globally popular movies (WR):</a:t>
            </a:r>
          </a:p>
        </p:txBody>
      </p:sp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EECA0CE8-25E7-B41E-5F6E-999A084DD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B7C49D-C6AF-903D-FB82-7FD6D19CB5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21" y="2707593"/>
            <a:ext cx="6608282" cy="357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410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EA27-83D3-DE33-8AFE-D0E43B8C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F563-AFB5-F64E-44E5-821949BC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Final outputs</a:t>
            </a:r>
          </a:p>
        </p:txBody>
      </p:sp>
      <p:pic>
        <p:nvPicPr>
          <p:cNvPr id="5" name="Graphic 4" descr="Purpose icon">
            <a:extLst>
              <a:ext uri="{FF2B5EF4-FFF2-40B4-BE49-F238E27FC236}">
                <a16:creationId xmlns:a16="http://schemas.microsoft.com/office/drawing/2014/main" id="{6CB6E317-E006-C8B0-02C0-775145DF4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6" y="2947289"/>
            <a:ext cx="936000" cy="936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1816C-4CCA-6C44-46C8-CEB90FB9E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7252" y="4711143"/>
            <a:ext cx="9613860" cy="1704017"/>
          </a:xfrm>
        </p:spPr>
        <p:txBody>
          <a:bodyPr>
            <a:normAutofit/>
          </a:bodyPr>
          <a:lstStyle/>
          <a:p>
            <a:pPr algn="l" rtl="0"/>
            <a:r>
              <a:rPr lang="en-US" sz="2400" dirty="0"/>
              <a:t>We have two csv files as below: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dirty="0"/>
              <a:t>data/baseline/baseline_global_wr.csv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400" dirty="0"/>
              <a:t>data/baseline/baseline_per_genre_wr.csv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85730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50A0-2220-9FB2-11FA-01C48A97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16FD5-B88A-6C74-3088-6A037BDD6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Make a user profile and recommendations</a:t>
            </a:r>
          </a:p>
        </p:txBody>
      </p:sp>
      <p:pic>
        <p:nvPicPr>
          <p:cNvPr id="5" name="Graphic 4" descr="Purpose icon">
            <a:extLst>
              <a:ext uri="{FF2B5EF4-FFF2-40B4-BE49-F238E27FC236}">
                <a16:creationId xmlns:a16="http://schemas.microsoft.com/office/drawing/2014/main" id="{238C36BB-F499-2A77-4DD8-B3DA4FE53B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6" y="2947289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57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AFBFC-E7CF-7508-2C33-486785C5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24630626-1C7B-2A82-9732-69C4C41C8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35577122-1108-A481-C801-CC60C6DA40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065313" cy="2426405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Text Features: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Combines overview and tagline into a single text field.</a:t>
            </a:r>
          </a:p>
          <a:p>
            <a:pPr rtl="0"/>
            <a:r>
              <a:rPr lang="en-US" dirty="0"/>
              <a:t>Applies TF-IDF vectorization with English stop words removal.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2DCBA5D-9D9F-DA6A-D0AD-BF04A81C85FB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5751441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15C4D-CA86-02A8-F72C-09ECC242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B91B1096-9035-053E-EE7E-72858D268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5700C486-85F3-C478-6EB3-E41F8465B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065313" cy="2426405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Text Features:</a:t>
            </a:r>
          </a:p>
          <a:p>
            <a:pPr rtl="0"/>
            <a:endParaRPr lang="en-US" dirty="0"/>
          </a:p>
          <a:p>
            <a:pPr rtl="0"/>
            <a:r>
              <a:rPr lang="en-US" dirty="0"/>
              <a:t>Combines overview and tagline into a single text field.</a:t>
            </a:r>
          </a:p>
          <a:p>
            <a:pPr rtl="0"/>
            <a:r>
              <a:rPr lang="en-US" dirty="0"/>
              <a:t>Applies TF-IDF vectorization with English stop words removal.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3047E-C31C-AD8E-8BF8-B1414603B006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CD31E4-AE56-FFB7-19B9-C1E0CDE0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44" y="3428999"/>
            <a:ext cx="9963713" cy="199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39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04C78-AEC2-FE94-CCA0-1B11D17D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51EF529C-AD16-D86B-6244-B9FC84EA3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9C3D5DAD-C4E8-F4F8-575D-02A3687973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Categorical Features:</a:t>
            </a:r>
          </a:p>
          <a:p>
            <a:pPr marL="0" indent="0" rtl="0">
              <a:buNone/>
            </a:pPr>
            <a:endParaRPr lang="en-US" dirty="0"/>
          </a:p>
          <a:p>
            <a:pPr rtl="0"/>
            <a:r>
              <a:rPr lang="en-US" b="1" dirty="0"/>
              <a:t>Genres: </a:t>
            </a:r>
            <a:r>
              <a:rPr lang="en-US" dirty="0"/>
              <a:t>Multi-label binarization of genre lists.</a:t>
            </a:r>
          </a:p>
          <a:p>
            <a:pPr rtl="0"/>
            <a:r>
              <a:rPr lang="en-US" b="1" dirty="0"/>
              <a:t>Keywords:</a:t>
            </a:r>
            <a:r>
              <a:rPr lang="en-US" dirty="0"/>
              <a:t> Multi-label binarization of keyword lists.</a:t>
            </a:r>
          </a:p>
          <a:p>
            <a:pPr rtl="0"/>
            <a:r>
              <a:rPr lang="en-US" b="1" dirty="0"/>
              <a:t>Cast &amp; Crew: </a:t>
            </a:r>
            <a:r>
              <a:rPr lang="en-US" dirty="0"/>
              <a:t>Multi-label binarization of top cast and crew members.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453A12-6F39-98D5-A1FC-7B28AD105CB8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445220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8589B-5760-4297-1CA2-24625DD89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60534DC7-DCA2-CE6D-4940-BC5B2B647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30DB1356-A31A-B6BD-6441-4DFDDA673C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995" y="198356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Categorical Features:</a:t>
            </a:r>
          </a:p>
          <a:p>
            <a:pPr marL="0" indent="0" rtl="0"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58AC7E6-3C30-AF13-0CCA-58CB535BE227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CB8D0D-CB4B-A807-CACE-97E424F26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5259" y="2363309"/>
            <a:ext cx="820102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69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B90D-D51E-C009-2337-BE59F25C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843F6937-A4F0-F182-1FB8-8707240D6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04B4FDF8-945A-D56F-C4E0-B23BDD501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Feature Integration:</a:t>
            </a:r>
          </a:p>
          <a:p>
            <a:pPr marL="0" indent="0" rtl="0">
              <a:buNone/>
            </a:pPr>
            <a:endParaRPr lang="en-US" b="1" dirty="0"/>
          </a:p>
          <a:p>
            <a:pPr rtl="0"/>
            <a:r>
              <a:rPr lang="en-US" dirty="0"/>
              <a:t>Horizontally stacks all feature matrices using </a:t>
            </a:r>
            <a:r>
              <a:rPr lang="en-US" dirty="0" err="1"/>
              <a:t>hstack</a:t>
            </a:r>
            <a:r>
              <a:rPr lang="en-US" dirty="0"/>
              <a:t>()</a:t>
            </a:r>
          </a:p>
          <a:p>
            <a:pPr rtl="0"/>
            <a:r>
              <a:rPr lang="en-US" dirty="0"/>
              <a:t>Creates comprehensive item feature representations.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1EA9F1-D01D-3088-62F0-47BFB0F9DC0B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22316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735BD-973F-FED7-4DB2-6C188043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B1A5A243-B3D8-CE64-ACD5-17B928AE5E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66939A1D-ABEA-42C3-634B-DE2B98B4D5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980" y="1769947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Feature Integration: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591A85-0780-5764-1C83-88EF157E66C2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B8F65E-13F4-6718-AE10-92138E2952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13" y="3956411"/>
            <a:ext cx="9896475" cy="9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709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E669-BA52-ECD6-D493-48655ADF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669F6436-F86D-D121-619D-2F78681FC2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7C3C4C85-E76D-B12A-3EEE-ED85DB1ED0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2. </a:t>
            </a:r>
            <a:r>
              <a:rPr lang="en-US" b="1" dirty="0" err="1"/>
              <a:t>dimensionality_reduction</a:t>
            </a:r>
            <a:r>
              <a:rPr lang="en-US" b="1" dirty="0"/>
              <a:t>()</a:t>
            </a:r>
          </a:p>
          <a:p>
            <a:pPr marL="0" indent="0" rtl="0">
              <a:buNone/>
            </a:pPr>
            <a:endParaRPr lang="en-US" b="1" dirty="0"/>
          </a:p>
          <a:p>
            <a:pPr rtl="0"/>
            <a:r>
              <a:rPr lang="en-US" b="1" dirty="0"/>
              <a:t>Applies Truncated SVD with 300 components for dimensionality reduction.</a:t>
            </a:r>
          </a:p>
          <a:p>
            <a:pPr rtl="0"/>
            <a:r>
              <a:rPr lang="en-US" b="1" dirty="0"/>
              <a:t>Creates efficient item vectors indexed by </a:t>
            </a:r>
            <a:r>
              <a:rPr lang="en-US" b="1" dirty="0" err="1"/>
              <a:t>tmdbId</a:t>
            </a:r>
            <a:r>
              <a:rPr lang="en-US" b="1" dirty="0"/>
              <a:t>.</a:t>
            </a:r>
          </a:p>
          <a:p>
            <a:pPr rtl="0"/>
            <a:r>
              <a:rPr lang="en-US" b="1" dirty="0"/>
              <a:t>Reduces computational complexity while preserving essential patterns.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D79B22-6E8A-27D4-09F7-1742949C6A2F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12673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FED97-4735-5D2B-EB97-D90F1C744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0349D16C-CA13-4E18-06D2-50FDDD37DD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4E38A0E7-27D7-42CB-D5D2-95ED95CC61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2. </a:t>
            </a:r>
            <a:r>
              <a:rPr lang="en-US" b="1" dirty="0" err="1"/>
              <a:t>dimensionality_reduction</a:t>
            </a:r>
            <a:r>
              <a:rPr lang="en-US" b="1" dirty="0"/>
              <a:t>()</a:t>
            </a:r>
          </a:p>
          <a:p>
            <a:pPr marL="0" indent="0" rtl="0">
              <a:buNone/>
            </a:pPr>
            <a:endParaRPr lang="en-US" b="1" dirty="0"/>
          </a:p>
          <a:p>
            <a:pPr rtl="0"/>
            <a:r>
              <a:rPr lang="en-US" b="1" dirty="0"/>
              <a:t>Applies Truncated SVD with 300 components for dimensionality reduction.</a:t>
            </a:r>
          </a:p>
          <a:p>
            <a:pPr rtl="0"/>
            <a:r>
              <a:rPr lang="en-US" b="1" dirty="0"/>
              <a:t>Creates efficient item vectors indexed by </a:t>
            </a:r>
            <a:r>
              <a:rPr lang="en-US" b="1" dirty="0" err="1"/>
              <a:t>tmdbId</a:t>
            </a:r>
            <a:r>
              <a:rPr lang="en-US" b="1" dirty="0"/>
              <a:t>.</a:t>
            </a:r>
          </a:p>
          <a:p>
            <a:pPr rtl="0"/>
            <a:r>
              <a:rPr lang="en-US" b="1" dirty="0"/>
              <a:t>Reduces computational complexity while preserving essential patterns.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20AF7B2-A404-93CF-B64A-CF1AB4BCC2F8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4B7BF-0494-395E-9DC2-0CEE29C77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44" y="3339646"/>
            <a:ext cx="11008742" cy="284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85C47-4663-AF18-728C-C6D5DEFA6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7D7C6BB4-F277-A673-998E-0A921DD3E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EE99589C-4311-E5CB-C252-7938ABA00D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 fontScale="92500" lnSpcReduction="20000"/>
          </a:bodyPr>
          <a:lstStyle/>
          <a:p>
            <a:pPr marL="0" indent="0" rtl="0">
              <a:buNone/>
            </a:pPr>
            <a:r>
              <a:rPr lang="en-US" b="1" dirty="0" err="1"/>
              <a:t>build_user_profile</a:t>
            </a:r>
            <a:r>
              <a:rPr lang="en-US" b="1" dirty="0"/>
              <a:t>(</a:t>
            </a:r>
            <a:r>
              <a:rPr lang="en-US" b="1" dirty="0" err="1"/>
              <a:t>user_id</a:t>
            </a:r>
            <a:r>
              <a:rPr lang="en-US" b="1" dirty="0"/>
              <a:t>, </a:t>
            </a:r>
            <a:r>
              <a:rPr lang="en-US" b="1" dirty="0" err="1"/>
              <a:t>ratings_df</a:t>
            </a:r>
            <a:r>
              <a:rPr lang="en-US" b="1" dirty="0"/>
              <a:t>, </a:t>
            </a:r>
            <a:r>
              <a:rPr lang="en-US" b="1" dirty="0" err="1"/>
              <a:t>item_vecs</a:t>
            </a:r>
            <a:r>
              <a:rPr lang="en-US" b="1" dirty="0"/>
              <a:t>)</a:t>
            </a:r>
          </a:p>
          <a:p>
            <a:pPr marL="0" indent="0" rtl="0">
              <a:buNone/>
            </a:pPr>
            <a:endParaRPr lang="en-US" b="1" dirty="0"/>
          </a:p>
          <a:p>
            <a:pPr marL="0" indent="0" rtl="0">
              <a:buNone/>
            </a:pPr>
            <a:r>
              <a:rPr lang="en-US" b="1" dirty="0"/>
              <a:t>User Preference Modeling:</a:t>
            </a:r>
          </a:p>
          <a:p>
            <a:pPr marL="0" indent="0" rtl="0">
              <a:buNone/>
            </a:pPr>
            <a:endParaRPr lang="en-US" b="1" dirty="0"/>
          </a:p>
          <a:p>
            <a:pPr rtl="0"/>
            <a:r>
              <a:rPr lang="en-US" b="1" dirty="0"/>
              <a:t>Extracts the user's rating history.</a:t>
            </a:r>
          </a:p>
          <a:p>
            <a:pPr rtl="0"/>
            <a:r>
              <a:rPr lang="en-US" b="1" dirty="0"/>
              <a:t>Applies mean-centering to adjust ratings.</a:t>
            </a:r>
          </a:p>
          <a:p>
            <a:pPr rtl="0"/>
            <a:r>
              <a:rPr lang="en-US" b="1" dirty="0"/>
              <a:t>Creates a weighted average profile vector based on user preferences.</a:t>
            </a:r>
          </a:p>
          <a:p>
            <a:pPr rtl="0"/>
            <a:r>
              <a:rPr lang="en-US" b="1" dirty="0"/>
              <a:t>Returns None for new users (cold start scenario)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F6E059D-16CA-F76C-A189-A9613BEF4C9F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30000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E04A-2879-E525-2DD6-9799E9E0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21255F75-DF47-A3E7-5A91-9CEAB514D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D119661-3D61-B641-3198-95B7665436EF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C5C9D-A059-6CC0-C17F-66363996E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887" y="2153783"/>
            <a:ext cx="759142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034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02758-5AF0-D505-F425-D36A02AF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F412503D-C1C0-FE0D-A161-AD8F72937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D67665A8-4F73-E8A5-69B4-D7D46F19B9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4. </a:t>
            </a:r>
            <a:r>
              <a:rPr lang="en-US" b="1" dirty="0" err="1"/>
              <a:t>recommend_content</a:t>
            </a:r>
            <a:r>
              <a:rPr lang="en-US" b="1" dirty="0"/>
              <a:t>(</a:t>
            </a:r>
            <a:r>
              <a:rPr lang="en-US" b="1" dirty="0" err="1"/>
              <a:t>user_id</a:t>
            </a:r>
            <a:r>
              <a:rPr lang="en-US" b="1" dirty="0"/>
              <a:t>, </a:t>
            </a:r>
            <a:r>
              <a:rPr lang="en-US" b="1" dirty="0" err="1"/>
              <a:t>ratings_df</a:t>
            </a:r>
            <a:r>
              <a:rPr lang="en-US" b="1" dirty="0"/>
              <a:t>, </a:t>
            </a:r>
            <a:r>
              <a:rPr lang="en-US" b="1" dirty="0" err="1"/>
              <a:t>item_vecs</a:t>
            </a:r>
            <a:r>
              <a:rPr lang="en-US" b="1" dirty="0"/>
              <a:t>, </a:t>
            </a:r>
            <a:r>
              <a:rPr lang="en-US" b="1" dirty="0" err="1"/>
              <a:t>top_n</a:t>
            </a:r>
            <a:r>
              <a:rPr lang="en-US" b="1" dirty="0"/>
              <a:t>=10)</a:t>
            </a:r>
          </a:p>
          <a:p>
            <a:pPr marL="0" indent="0" rtl="0">
              <a:buNone/>
            </a:pPr>
            <a:endParaRPr lang="en-US" b="1" dirty="0"/>
          </a:p>
          <a:p>
            <a:pPr rtl="0"/>
            <a:r>
              <a:rPr lang="en-US" b="1" dirty="0"/>
              <a:t>Builds user profile or uses global ratings for cold start</a:t>
            </a:r>
          </a:p>
          <a:p>
            <a:pPr rtl="0"/>
            <a:r>
              <a:rPr lang="en-US" b="1" dirty="0"/>
              <a:t>Computes cosine similarity between user profile and all items</a:t>
            </a:r>
          </a:p>
          <a:p>
            <a:pPr rtl="0"/>
            <a:r>
              <a:rPr lang="en-US" b="1" dirty="0"/>
              <a:t>Filters out previously rated items</a:t>
            </a:r>
          </a:p>
          <a:p>
            <a:pPr rtl="0"/>
            <a:r>
              <a:rPr lang="en-US" b="1" dirty="0"/>
              <a:t>Returns top-N recommendations with titles and similarity scores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FEAE6E4-C34B-3952-79DD-B44AC93DD139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655861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39F6-30D4-E567-2FB0-4A4597B5E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21BF9674-CA12-A1F8-29D4-9674AE689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D2522D-7AF1-545E-D82B-EE72A309CCBD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578A1-82FA-90EA-D85F-0EC81DEA32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5494" y="2158772"/>
            <a:ext cx="86963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891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3C056-D061-C629-8402-5972FD28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8B044EB1-745B-DD32-E884-8416B0F49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8BD98262-515C-22B9-DF69-130A814659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544" y="2363309"/>
            <a:ext cx="10907142" cy="2890862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5. </a:t>
            </a:r>
            <a:r>
              <a:rPr lang="en-US" dirty="0" err="1"/>
              <a:t>explain_recommendation</a:t>
            </a:r>
            <a:r>
              <a:rPr lang="en-US" dirty="0"/>
              <a:t>(</a:t>
            </a:r>
            <a:r>
              <a:rPr lang="en-US" dirty="0" err="1"/>
              <a:t>tmdbId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ratings_df</a:t>
            </a:r>
            <a:r>
              <a:rPr lang="en-US" dirty="0"/>
              <a:t>, </a:t>
            </a:r>
            <a:r>
              <a:rPr lang="en-US" dirty="0" err="1"/>
              <a:t>meta_df</a:t>
            </a:r>
            <a:r>
              <a:rPr lang="en-US" dirty="0"/>
              <a:t>)</a:t>
            </a:r>
          </a:p>
          <a:p>
            <a:pPr marL="0" indent="0" rtl="0">
              <a:buNone/>
            </a:pPr>
            <a:endParaRPr lang="en-US" dirty="0"/>
          </a:p>
          <a:p>
            <a:pPr rtl="0"/>
            <a:r>
              <a:rPr lang="en-US" dirty="0"/>
              <a:t>Identifies genre and cast overlaps between recommended item and user's liked items.</a:t>
            </a:r>
          </a:p>
          <a:p>
            <a:pPr rtl="0"/>
            <a:r>
              <a:rPr lang="en-US" dirty="0"/>
              <a:t>Generates human-readable explanations based on common features.</a:t>
            </a:r>
          </a:p>
          <a:p>
            <a:pPr rtl="0"/>
            <a:r>
              <a:rPr lang="en-US" dirty="0"/>
              <a:t>Falls back to "matches your taste profile" when no obvious overlaps exist.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4A99A17-81F4-258B-EE63-5716109B6C2F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724666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88CA-0566-6808-BE33-9F7DB261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0529A552-8D16-CC25-D89B-FEF4E43A5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9CA4519-FE0C-3E79-BC3E-8E96FC13EE5A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CCFC40-826C-7A9D-6DC6-88D57DA6B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0171" y="1769947"/>
            <a:ext cx="9087702" cy="503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227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4194-E373-B326-7048-97B9E2E7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42518293-9E48-2E28-4135-CA4EAEAE34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EEC19235-48D4-DE75-52D4-0B9A302EF7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44" y="1956909"/>
            <a:ext cx="10907142" cy="1090788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For example, I test this recommendation for ser 123!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E328B5-28C6-C5D5-CAE0-145BE7C07B06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13991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D56A-2553-1162-ECFF-352BB6B1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DED81DF0-BFE7-0BC7-9E55-3AA8D3F63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A9E3A963-4098-7465-6C44-BEED8A34E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744" y="1956909"/>
            <a:ext cx="10907142" cy="1090788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For example, I test this recommendation for ser 123!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13648C-2110-ED6C-D88C-F38840541E90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Make a user profile and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DF640-A96E-D9E8-19A5-B0CE3A526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114" y="3047697"/>
            <a:ext cx="9546589" cy="330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13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B76EA-9686-F84D-0D8B-B448AF34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C0D07-A257-AEF2-C174-52D7EF6E7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KNN recommendations</a:t>
            </a:r>
          </a:p>
        </p:txBody>
      </p:sp>
      <p:pic>
        <p:nvPicPr>
          <p:cNvPr id="5" name="Graphic 4" descr="Purpose icon">
            <a:extLst>
              <a:ext uri="{FF2B5EF4-FFF2-40B4-BE49-F238E27FC236}">
                <a16:creationId xmlns:a16="http://schemas.microsoft.com/office/drawing/2014/main" id="{CEDCE472-795E-A4F7-9D13-AA3105F53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03486" y="2947289"/>
            <a:ext cx="936000" cy="9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858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8F52-8468-1139-240B-4C4FB0E67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51332A69-A8C9-DFC7-5F51-B21A112368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89A2E372-26CC-CA05-9539-0653A4CE2D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201" y="1956908"/>
            <a:ext cx="10907142" cy="49010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Key Components:</a:t>
            </a:r>
          </a:p>
          <a:p>
            <a:pPr marL="0" indent="0" rtl="0">
              <a:buNone/>
            </a:pPr>
            <a:endParaRPr lang="en-US" dirty="0"/>
          </a:p>
          <a:p>
            <a:pPr rtl="0"/>
            <a:r>
              <a:rPr lang="en-US" dirty="0"/>
              <a:t>Data Ingestion: The constructor takes a </a:t>
            </a:r>
            <a:r>
              <a:rPr lang="en-US" dirty="0" err="1"/>
              <a:t>DataFrame</a:t>
            </a:r>
            <a:r>
              <a:rPr lang="en-US" dirty="0"/>
              <a:t> </a:t>
            </a:r>
            <a:r>
              <a:rPr lang="en-US" dirty="0" err="1"/>
              <a:t>r_full</a:t>
            </a:r>
            <a:r>
              <a:rPr lang="en-US" dirty="0"/>
              <a:t> containing user-item interactions (columns: </a:t>
            </a:r>
            <a:r>
              <a:rPr lang="en-US" dirty="0" err="1"/>
              <a:t>userId</a:t>
            </a:r>
            <a:r>
              <a:rPr lang="en-US" dirty="0"/>
              <a:t>, </a:t>
            </a:r>
            <a:r>
              <a:rPr lang="en-US" dirty="0" err="1"/>
              <a:t>tmdbId</a:t>
            </a:r>
            <a:r>
              <a:rPr lang="en-US" dirty="0"/>
              <a:t>, rating).</a:t>
            </a:r>
          </a:p>
          <a:p>
            <a:pPr rtl="0"/>
            <a:r>
              <a:rPr lang="en-US" dirty="0"/>
              <a:t>Index Mapping: Efficiently maps raw user and item IDs to internal matrix indices using pandas' category data type. This creates four dictionaries:</a:t>
            </a:r>
          </a:p>
          <a:p>
            <a:pPr rtl="0"/>
            <a:r>
              <a:rPr lang="en-US" dirty="0" err="1"/>
              <a:t>uid_map</a:t>
            </a:r>
            <a:r>
              <a:rPr lang="en-US" dirty="0"/>
              <a:t>, </a:t>
            </a:r>
            <a:r>
              <a:rPr lang="en-US" dirty="0" err="1"/>
              <a:t>iid_map</a:t>
            </a:r>
            <a:r>
              <a:rPr lang="en-US" dirty="0"/>
              <a:t>: Map internal index → original ID.</a:t>
            </a:r>
          </a:p>
          <a:p>
            <a:pPr rtl="0"/>
            <a:r>
              <a:rPr lang="en-US" dirty="0" err="1"/>
              <a:t>uid_inv</a:t>
            </a:r>
            <a:r>
              <a:rPr lang="en-US" dirty="0"/>
              <a:t>, </a:t>
            </a:r>
            <a:r>
              <a:rPr lang="en-US" dirty="0" err="1"/>
              <a:t>iid_inv</a:t>
            </a:r>
            <a:r>
              <a:rPr lang="en-US" dirty="0"/>
              <a:t>: Map original ID → internal index (crucial for fast lookups).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21F6AF4-6F5B-BB0F-2C84-25189633B400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1285007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79128-203E-1BEC-0B3B-98E443823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4B4CA9B8-6EDD-CAEE-EFCC-FA809F180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C3439F81-7FE4-FED0-E7EA-7D9ACCA796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1772" y="1139462"/>
            <a:ext cx="10907142" cy="49010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Key Components:</a:t>
            </a:r>
          </a:p>
          <a:p>
            <a:pPr marL="0" indent="0" rtl="0">
              <a:buNone/>
            </a:pPr>
            <a:endParaRPr lang="en-US" dirty="0"/>
          </a:p>
          <a:p>
            <a:pPr rtl="0"/>
            <a:r>
              <a:rPr lang="en-US" dirty="0"/>
              <a:t>Sparse Matrix Construction: Constructs a Compressed Sparse Row (</a:t>
            </a:r>
            <a:r>
              <a:rPr lang="en-US" dirty="0" err="1"/>
              <a:t>csr_matrix</a:t>
            </a:r>
            <a:r>
              <a:rPr lang="en-US" dirty="0"/>
              <a:t>) matrix R from the rating data. This is a memory-efficient representation for the user-item interaction matrix, especially since most users have not rated most items.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0823C7E-594B-CDBC-625D-99518C53A531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4205764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4B315-074C-2B28-61DF-035DA559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ED5404DE-9BAD-FAC1-DEB5-B427FEB8A1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ACF7B321-CAB6-453F-785A-C395FD981B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4995" y="679159"/>
            <a:ext cx="10907142" cy="49010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b="1" dirty="0"/>
              <a:t>Key Components: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DBAD59-6F3D-FCB1-20C2-695489A8EB6D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recommendations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1593A-F4C9-D1CA-12FA-BF87E89671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555" y="2481262"/>
            <a:ext cx="7541200" cy="392739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8D32CC4-A7BE-8D96-1A9B-410C6162DEBA}"/>
              </a:ext>
            </a:extLst>
          </p:cNvPr>
          <p:cNvSpPr/>
          <p:nvPr/>
        </p:nvSpPr>
        <p:spPr>
          <a:xfrm>
            <a:off x="4530203" y="3744686"/>
            <a:ext cx="428171" cy="420914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BBA995-09B7-6270-4CAF-5610EEE41F7C}"/>
              </a:ext>
            </a:extLst>
          </p:cNvPr>
          <p:cNvSpPr/>
          <p:nvPr/>
        </p:nvSpPr>
        <p:spPr>
          <a:xfrm>
            <a:off x="5350395" y="3744686"/>
            <a:ext cx="428171" cy="420914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F5FB0A36-2AE2-DF41-6D72-63AA1E23D6D7}"/>
              </a:ext>
            </a:extLst>
          </p:cNvPr>
          <p:cNvCxnSpPr/>
          <p:nvPr/>
        </p:nvCxnSpPr>
        <p:spPr>
          <a:xfrm rot="10800000" flipV="1">
            <a:off x="2496458" y="4165599"/>
            <a:ext cx="2247831" cy="537029"/>
          </a:xfrm>
          <a:prstGeom prst="bentConnector3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8A9D1D8-F0AE-40B3-26A8-3D841283A161}"/>
              </a:ext>
            </a:extLst>
          </p:cNvPr>
          <p:cNvCxnSpPr>
            <a:cxnSpLocks/>
            <a:stCxn id="8" idx="4"/>
          </p:cNvCxnSpPr>
          <p:nvPr/>
        </p:nvCxnSpPr>
        <p:spPr>
          <a:xfrm rot="5400000">
            <a:off x="3529385" y="3393930"/>
            <a:ext cx="1263426" cy="2806767"/>
          </a:xfrm>
          <a:prstGeom prst="bentConnector2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73">
            <a:extLst>
              <a:ext uri="{FF2B5EF4-FFF2-40B4-BE49-F238E27FC236}">
                <a16:creationId xmlns:a16="http://schemas.microsoft.com/office/drawing/2014/main" id="{65AB0D20-2B97-793F-D60F-918ACB920B81}"/>
              </a:ext>
            </a:extLst>
          </p:cNvPr>
          <p:cNvSpPr txBox="1">
            <a:spLocks/>
          </p:cNvSpPr>
          <p:nvPr/>
        </p:nvSpPr>
        <p:spPr>
          <a:xfrm>
            <a:off x="1668300" y="4987509"/>
            <a:ext cx="1133800" cy="8239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dirty="0"/>
              <a:t>Rate</a:t>
            </a:r>
          </a:p>
        </p:txBody>
      </p:sp>
      <p:sp>
        <p:nvSpPr>
          <p:cNvPr id="18" name="Text Placeholder 73">
            <a:extLst>
              <a:ext uri="{FF2B5EF4-FFF2-40B4-BE49-F238E27FC236}">
                <a16:creationId xmlns:a16="http://schemas.microsoft.com/office/drawing/2014/main" id="{6CF1C750-AB3E-C5C8-F8C5-4D45F839F29E}"/>
              </a:ext>
            </a:extLst>
          </p:cNvPr>
          <p:cNvSpPr txBox="1">
            <a:spLocks/>
          </p:cNvSpPr>
          <p:nvPr/>
        </p:nvSpPr>
        <p:spPr>
          <a:xfrm>
            <a:off x="1097642" y="4264141"/>
            <a:ext cx="1553029" cy="8239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 algn="l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US" dirty="0" err="1"/>
              <a:t>tmdbId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6944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06BB-ADB8-22BF-87F1-D9B65D87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3F439E5E-74EA-B02F-613B-0CAAE8905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49EEDF38-2B75-D45D-3E66-26F2FF2050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09"/>
            <a:ext cx="10907142" cy="49010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Item-Item KNN (</a:t>
            </a:r>
            <a:r>
              <a:rPr lang="en-US" dirty="0" err="1"/>
              <a:t>item_item_knn</a:t>
            </a:r>
            <a:r>
              <a:rPr lang="en-US" dirty="0"/>
              <a:t>)</a:t>
            </a:r>
          </a:p>
          <a:p>
            <a:pPr marL="0" indent="0" rtl="0">
              <a:buNone/>
            </a:pPr>
            <a:r>
              <a:rPr lang="en-US" dirty="0"/>
              <a:t>Principle: "Users who liked this item also liked..."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r>
              <a:rPr lang="en-US" dirty="0"/>
              <a:t>Methodology:</a:t>
            </a:r>
          </a:p>
          <a:p>
            <a:pPr rtl="0"/>
            <a:r>
              <a:rPr lang="en-US" dirty="0"/>
              <a:t>Identifies items a target user has already rated (</a:t>
            </a:r>
            <a:r>
              <a:rPr lang="en-US" dirty="0" err="1"/>
              <a:t>seen_items</a:t>
            </a:r>
            <a:r>
              <a:rPr lang="en-US" dirty="0"/>
              <a:t>).</a:t>
            </a:r>
          </a:p>
          <a:p>
            <a:pPr rtl="0"/>
            <a:r>
              <a:rPr lang="en-US" dirty="0"/>
              <a:t>Computes the cosine similarity between every </a:t>
            </a:r>
            <a:r>
              <a:rPr lang="en-US" dirty="0" err="1"/>
              <a:t>seen_item</a:t>
            </a:r>
            <a:r>
              <a:rPr lang="en-US" dirty="0"/>
              <a:t> and every other item in the catalog.</a:t>
            </a:r>
          </a:p>
          <a:p>
            <a:pPr rtl="0"/>
            <a:r>
              <a:rPr lang="en-US" dirty="0"/>
              <a:t>Generates a prediction score for each item by calculating a weighted average of the user's ratings, where the weights are the similarities.</a:t>
            </a:r>
          </a:p>
          <a:p>
            <a:pPr rtl="0"/>
            <a:r>
              <a:rPr lang="en-US" dirty="0"/>
              <a:t>Masks items the user has already seen by setting their scores to -inf, ensuring they are not recommended.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1936B6-9429-6094-65F7-F5657CEA9D74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38574235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5607-E8E4-F786-4FC2-E94BEB627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0B26A507-8502-2AC2-AD55-02F049BC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EBAE9FF1-14FC-81AB-F1A6-0069BEB664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10"/>
            <a:ext cx="10907142" cy="1090788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Item-Item KNN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99BD25-EF04-4515-62F8-47137874DE1C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D3BEF-66D1-4748-575D-2F04E878F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2114" y="2644088"/>
            <a:ext cx="4473349" cy="38250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1E7B55-EC1A-CE08-1CF6-7FA290654CFA}"/>
              </a:ext>
            </a:extLst>
          </p:cNvPr>
          <p:cNvSpPr txBox="1"/>
          <p:nvPr/>
        </p:nvSpPr>
        <p:spPr>
          <a:xfrm>
            <a:off x="32829" y="5809509"/>
            <a:ext cx="6168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The recommendations are often intuitive and justifiable.</a:t>
            </a:r>
          </a:p>
        </p:txBody>
      </p:sp>
    </p:spTree>
    <p:extLst>
      <p:ext uri="{BB962C8B-B14F-4D97-AF65-F5344CB8AC3E}">
        <p14:creationId xmlns:p14="http://schemas.microsoft.com/office/powerpoint/2010/main" val="14570743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D583-3F03-DD84-405C-1766EF18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F0E4AA91-E9BC-F22A-B12C-BD6FDF1F0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FFC112CE-A316-7088-517E-2C2FD358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09"/>
            <a:ext cx="11850570" cy="4901091"/>
          </a:xfrm>
        </p:spPr>
        <p:txBody>
          <a:bodyPr>
            <a:normAutofit fontScale="92500"/>
          </a:bodyPr>
          <a:lstStyle/>
          <a:p>
            <a:pPr marL="0" indent="0" rtl="0">
              <a:buNone/>
            </a:pPr>
            <a:r>
              <a:rPr lang="en-US" dirty="0"/>
              <a:t>User-User KNN (</a:t>
            </a:r>
            <a:r>
              <a:rPr lang="en-US" dirty="0" err="1"/>
              <a:t>user_user_knn</a:t>
            </a:r>
            <a:r>
              <a:rPr lang="en-US" dirty="0"/>
              <a:t>)</a:t>
            </a:r>
          </a:p>
          <a:p>
            <a:pPr marL="0" indent="0" rtl="0">
              <a:buNone/>
            </a:pPr>
            <a:r>
              <a:rPr lang="en-US" dirty="0"/>
              <a:t>Principle: "Users like you also liked..."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r>
              <a:rPr lang="en-US" dirty="0"/>
              <a:t>Methodology:</a:t>
            </a:r>
          </a:p>
          <a:p>
            <a:pPr rtl="0"/>
            <a:r>
              <a:rPr lang="en-US" dirty="0"/>
              <a:t>Converts the sparse matrix to a dense array. (Note: This is a significant limitation for large datasets and should be replaced with sparse-aware computations for production use.)</a:t>
            </a:r>
          </a:p>
          <a:p>
            <a:pPr rtl="0"/>
            <a:r>
              <a:rPr lang="en-US" dirty="0"/>
              <a:t>Mean-centers the user ratings to account for user bias (a harsh rater vs. a generous rater).</a:t>
            </a:r>
          </a:p>
          <a:p>
            <a:pPr rtl="0"/>
            <a:r>
              <a:rPr lang="en-US" dirty="0"/>
              <a:t>Computes the cosine similarity between the target user's rating vector and all other users.</a:t>
            </a:r>
          </a:p>
          <a:p>
            <a:pPr rtl="0"/>
            <a:r>
              <a:rPr lang="en-US" dirty="0"/>
              <a:t>Generates a prediction score by taking a weighted average of the ratings from the most similar users (neighbors).</a:t>
            </a:r>
          </a:p>
          <a:p>
            <a:pPr rtl="0"/>
            <a:r>
              <a:rPr lang="en-US" dirty="0"/>
              <a:t>Adds the target user's mean rating back to the centered predictions.</a:t>
            </a:r>
          </a:p>
          <a:p>
            <a:pPr rtl="0"/>
            <a:r>
              <a:rPr lang="en-US" dirty="0"/>
              <a:t>Masks already seen items.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EBE36E-6BCF-42F2-D4A7-FE328ADDD483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11474979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D420-ACB4-E616-F8A5-75E01224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76FE17E9-FF93-77A8-25CB-64CF27D73F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2F7A388-716F-B2BA-1791-3A30129686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09"/>
            <a:ext cx="11850570" cy="95250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User-User KNN (</a:t>
            </a:r>
            <a:r>
              <a:rPr lang="en-US" dirty="0" err="1"/>
              <a:t>user_user_knn</a:t>
            </a:r>
            <a:r>
              <a:rPr lang="en-US" dirty="0"/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4BCDD-B057-8F74-F0EF-0C1D8AE846BE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92F68E-8C92-8415-37AA-CFD7E1D6B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628" y="2362352"/>
            <a:ext cx="4441145" cy="40011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B0EEF-1F95-E4FE-4B56-DC9227420BC0}"/>
              </a:ext>
            </a:extLst>
          </p:cNvPr>
          <p:cNvSpPr txBox="1"/>
          <p:nvPr/>
        </p:nvSpPr>
        <p:spPr>
          <a:xfrm>
            <a:off x="210801" y="5809509"/>
            <a:ext cx="7133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Directly leverages the wisdom of a user's nearest neighbors.</a:t>
            </a:r>
          </a:p>
        </p:txBody>
      </p:sp>
    </p:spTree>
    <p:extLst>
      <p:ext uri="{BB962C8B-B14F-4D97-AF65-F5344CB8AC3E}">
        <p14:creationId xmlns:p14="http://schemas.microsoft.com/office/powerpoint/2010/main" val="1652503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05451-647D-2D2D-12B9-3896EDFB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69925D43-C920-0D96-704C-481F3E8E9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B3A3A0A-209B-1CBB-82AA-24874739F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09"/>
            <a:ext cx="11850570" cy="4901091"/>
          </a:xfrm>
        </p:spPr>
        <p:txBody>
          <a:bodyPr>
            <a:normAutofit fontScale="92500" lnSpcReduction="10000"/>
          </a:bodyPr>
          <a:lstStyle/>
          <a:p>
            <a:pPr marL="0" indent="0" rtl="0">
              <a:buNone/>
            </a:pPr>
            <a:r>
              <a:rPr lang="en-US" dirty="0"/>
              <a:t>Matrix Factorization (</a:t>
            </a:r>
            <a:r>
              <a:rPr lang="en-US" dirty="0" err="1"/>
              <a:t>train_mf</a:t>
            </a:r>
            <a:r>
              <a:rPr lang="en-US" dirty="0"/>
              <a:t> and </a:t>
            </a:r>
            <a:r>
              <a:rPr lang="en-US" dirty="0" err="1"/>
              <a:t>mf_scores</a:t>
            </a:r>
            <a:r>
              <a:rPr lang="en-US" dirty="0"/>
              <a:t>)</a:t>
            </a:r>
          </a:p>
          <a:p>
            <a:pPr marL="0" indent="0" rtl="0">
              <a:buNone/>
            </a:pPr>
            <a:r>
              <a:rPr lang="en-US" dirty="0"/>
              <a:t>Principle: Discovers latent features (e.g., genre, director, themes) that describe users and items.</a:t>
            </a:r>
          </a:p>
          <a:p>
            <a:pPr marL="0" indent="0" rtl="0">
              <a:buNone/>
            </a:pPr>
            <a:endParaRPr lang="en-US" dirty="0"/>
          </a:p>
          <a:p>
            <a:pPr marL="0" indent="0" rtl="0">
              <a:buNone/>
            </a:pPr>
            <a:r>
              <a:rPr lang="en-US" dirty="0"/>
              <a:t>Methodology (Biased SGD):</a:t>
            </a:r>
          </a:p>
          <a:p>
            <a:pPr rtl="0"/>
            <a:r>
              <a:rPr lang="en-US" dirty="0"/>
              <a:t>Model: The rating prediction is decomposed into a global mean (mu), user bias (</a:t>
            </a:r>
            <a:r>
              <a:rPr lang="en-US" dirty="0" err="1"/>
              <a:t>bu</a:t>
            </a:r>
            <a:r>
              <a:rPr lang="en-US" dirty="0"/>
              <a:t>), item bias (bi), and the dot product of user and item latent factor vectors (P and Q).</a:t>
            </a:r>
          </a:p>
          <a:p>
            <a:pPr rtl="0"/>
            <a:r>
              <a:rPr lang="en-US" dirty="0"/>
              <a:t>Training: Uses Stochastic Gradient Descent (SGD) to minimize the prediction error on known ratings. The algorithm iteratively updates the biases and latent factors over multiple epochs.</a:t>
            </a:r>
          </a:p>
          <a:p>
            <a:pPr rtl="0"/>
            <a:r>
              <a:rPr lang="en-US" dirty="0"/>
              <a:t>Prediction: After training, scores for all items for a user are calculated using the learned parameters.</a:t>
            </a:r>
          </a:p>
          <a:p>
            <a:pPr rtl="0"/>
            <a:r>
              <a:rPr lang="en-US" dirty="0"/>
              <a:t>Strengths: Generally offers higher accuracy and can capture complex, non-linear relationships that KNN methods might miss. It is more scalable to very large datasets.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913808-ECE6-177F-04E1-7E80EF9AA0BB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6292633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6B65F-EEC2-C15B-7801-012617DC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 descr="Steps icon">
            <a:extLst>
              <a:ext uri="{FF2B5EF4-FFF2-40B4-BE49-F238E27FC236}">
                <a16:creationId xmlns:a16="http://schemas.microsoft.com/office/drawing/2014/main" id="{4D298A19-2CCE-4D9D-96EC-61C31AAAF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14505" y="817447"/>
            <a:ext cx="952500" cy="952500"/>
          </a:xfrm>
          <a:prstGeom prst="rect">
            <a:avLst/>
          </a:prstGeom>
        </p:spPr>
      </p:pic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2E4EBC31-30EC-9B16-6228-0C5FC6AFD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0801" y="1956909"/>
            <a:ext cx="11850570" cy="786291"/>
          </a:xfrm>
        </p:spPr>
        <p:txBody>
          <a:bodyPr>
            <a:normAutofit/>
          </a:bodyPr>
          <a:lstStyle/>
          <a:p>
            <a:pPr marL="0" indent="0" rtl="0">
              <a:buNone/>
            </a:pPr>
            <a:r>
              <a:rPr lang="en-US" dirty="0"/>
              <a:t>Matrix Factorization (</a:t>
            </a:r>
            <a:r>
              <a:rPr lang="en-US" dirty="0" err="1"/>
              <a:t>train_mf</a:t>
            </a:r>
            <a:r>
              <a:rPr lang="en-US" dirty="0"/>
              <a:t> and </a:t>
            </a:r>
            <a:r>
              <a:rPr lang="en-US" dirty="0" err="1"/>
              <a:t>mf_scores</a:t>
            </a:r>
            <a:r>
              <a:rPr lang="en-US" dirty="0"/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C97426-69B6-22E3-DDA7-CDFD65AC53CD}"/>
              </a:ext>
            </a:extLst>
          </p:cNvPr>
          <p:cNvSpPr txBox="1">
            <a:spLocks/>
          </p:cNvSpPr>
          <p:nvPr/>
        </p:nvSpPr>
        <p:spPr>
          <a:xfrm>
            <a:off x="324995" y="679159"/>
            <a:ext cx="9613860" cy="109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US" dirty="0"/>
              <a:t>KNN Core Recommendation Algorithms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EAC1D1-D2AC-BDB3-B564-31E81E6AB9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861" y="2488065"/>
            <a:ext cx="3455081" cy="4042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12B5D-F195-C61E-E4FC-3D8CD61D350D}"/>
              </a:ext>
            </a:extLst>
          </p:cNvPr>
          <p:cNvSpPr txBox="1"/>
          <p:nvPr/>
        </p:nvSpPr>
        <p:spPr>
          <a:xfrm>
            <a:off x="324994" y="5255511"/>
            <a:ext cx="6569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a-IR" dirty="0"/>
              <a:t>Generally offers higher accuracy and can capture complex, non-linear relationships that KNN methods might miss. It is more scalable to very large datasets.</a:t>
            </a:r>
          </a:p>
        </p:txBody>
      </p:sp>
    </p:spTree>
    <p:extLst>
      <p:ext uri="{BB962C8B-B14F-4D97-AF65-F5344CB8AC3E}">
        <p14:creationId xmlns:p14="http://schemas.microsoft.com/office/powerpoint/2010/main" val="663696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394598200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Custom 1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67421116_win32_fixed.potx" id="{FA6E73D7-AB4D-470A-BC20-4A5DAA7F1483}" vid="{121C5919-B768-4EE0-B81A-4F293224EA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Reflection on learning </Template>
  <TotalTime>321</TotalTime>
  <Words>10006</Words>
  <Application>Microsoft Office PowerPoint</Application>
  <PresentationFormat>Widescreen</PresentationFormat>
  <Paragraphs>779</Paragraphs>
  <Slides>45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Segoe UI</vt:lpstr>
      <vt:lpstr>Trebuchet MS</vt:lpstr>
      <vt:lpstr>Trebuchet MS (Body)</vt:lpstr>
      <vt:lpstr>Berlin</vt:lpstr>
      <vt:lpstr>Final Project</vt:lpstr>
      <vt:lpstr>Repository</vt:lpstr>
      <vt:lpstr>EDA</vt:lpstr>
      <vt:lpstr>Cleaning</vt:lpstr>
      <vt:lpstr>EDA</vt:lpstr>
      <vt:lpstr>Dataset</vt:lpstr>
      <vt:lpstr>Dataset</vt:lpstr>
      <vt:lpstr>Dataset</vt:lpstr>
      <vt:lpstr>Dataset</vt:lpstr>
      <vt:lpstr>Dataset</vt:lpstr>
      <vt:lpstr>Dataset</vt:lpstr>
      <vt:lpstr>Base Line(construction)</vt:lpstr>
      <vt:lpstr>What does it return?</vt:lpstr>
      <vt:lpstr>We have two main approaches!</vt:lpstr>
      <vt:lpstr>Global WR parameters:</vt:lpstr>
      <vt:lpstr>Top 10 globally popular movies (WR):</vt:lpstr>
      <vt:lpstr>Final outputs</vt:lpstr>
      <vt:lpstr>Make a user profile and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KNN recommendations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Plus</dc:creator>
  <cp:lastModifiedBy>Plus</cp:lastModifiedBy>
  <cp:revision>9</cp:revision>
  <dcterms:created xsi:type="dcterms:W3CDTF">2025-09-04T14:53:02Z</dcterms:created>
  <dcterms:modified xsi:type="dcterms:W3CDTF">2025-09-04T20:52:46Z</dcterms:modified>
</cp:coreProperties>
</file>